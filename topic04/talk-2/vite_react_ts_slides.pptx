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857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https://vite.dev/guide/
- https://seeklogo.com/vector-logo/405912/vite (Vite logo)
- https://commons.wikimedia.org/wiki/File:React.svg (React logo)
- https://commons.wikimedia.org/wiki/File:Typescript_logo_2020.svg (TypeScript logo)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https://vite.dev/guide/ (overview)
- https://vite.dev/guide/why (dev server startup model)
- https://vite.dev/guide/dep-pre-bundling (esbuild pre-bundling)
- https://vite.dev/guide/features (HMR + React Fast Refresh; TS via esbuild)
- https://vite.dev/guide/rolldown (Vite currently uses esbuild in dev + Rollup in prod)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https://react.dev/learn/build-a-react-app-from-scratch (recommends Vite + react-ts template)
- https://vite.dev/guide/ (default scripts)
- https://vite.dev/guide/cli (preview command)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https://vite.dev/guide/features (HMR over native ESM; React Fast Refresh; TS via esbuild; recommendation to run tsc separately)
- https://www.npmjs.com/package/@vitejs/plugin-react (React plugin; Fast Refresh in dev)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https://vite.dev/guide/build (production build)
- https://vite.dev/guide/env-and-mode (import.meta.env; VITE_ prefix)
- https://vite.dev/guide/cli (vite preview; not a production server)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87552"/>
            <a:ext cx="10911535" cy="18288"/>
          </a:xfrm>
          <a:prstGeom prst="rect">
            <a:avLst/>
          </a:prstGeom>
          <a:solidFill>
            <a:srgbClr val="253057">
              <a:alpha val="65000"/>
            </a:srgbClr>
          </a:solidFill>
          <a:ln w="12700">
            <a:solidFill>
              <a:srgbClr val="2530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3" name="Image 0" descr="/mnt/data/v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1828800" cy="1828800"/>
          </a:xfrm>
          <a:prstGeom prst="rect">
            <a:avLst/>
          </a:prstGeom>
        </p:spPr>
      </p:pic>
      <p:pic>
        <p:nvPicPr>
          <p:cNvPr id="4" name="Image 1" descr="/mnt/data/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705356"/>
            <a:ext cx="1188720" cy="1069848"/>
          </a:xfrm>
          <a:prstGeom prst="rect">
            <a:avLst/>
          </a:prstGeom>
        </p:spPr>
      </p:pic>
      <p:pic>
        <p:nvPicPr>
          <p:cNvPr id="5" name="Image 2" descr="/mnt/data/typescri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1645920"/>
            <a:ext cx="1188720" cy="1188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7240" y="324612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React + TypeScript apps with Vite</a:t>
            </a:r>
            <a:endParaRPr lang="en-US" sz="4000" dirty="0"/>
          </a:p>
        </p:txBody>
      </p:sp>
      <p:sp>
        <p:nvSpPr>
          <p:cNvPr id="7" name="Text 2"/>
          <p:cNvSpPr/>
          <p:nvPr/>
        </p:nvSpPr>
        <p:spPr>
          <a:xfrm>
            <a:off x="804672" y="3977640"/>
            <a:ext cx="1058235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server • Instant HMR • Rollup-powered production builds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777240" y="4754880"/>
            <a:ext cx="8138160" cy="310896"/>
          </a:xfrm>
          <a:prstGeom prst="rect">
            <a:avLst/>
          </a:prstGeom>
          <a:solidFill>
            <a:srgbClr val="0F1730"/>
          </a:solidFill>
          <a:ln w="12700">
            <a:solidFill>
              <a:srgbClr val="25305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4"/>
          <p:cNvSpPr/>
          <p:nvPr/>
        </p:nvSpPr>
        <p:spPr>
          <a:xfrm>
            <a:off x="941832" y="4809744"/>
            <a:ext cx="7808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TL;DR: Vite serves source as native ESM in dev and bundles for production.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777240" y="5138928"/>
            <a:ext cx="5669280" cy="1417320"/>
          </a:xfrm>
          <a:prstGeom prst="rect">
            <a:avLst/>
          </a:prstGeom>
          <a:solidFill>
            <a:srgbClr val="0A0F1F"/>
          </a:solidFill>
          <a:ln w="12700">
            <a:solidFill>
              <a:srgbClr val="253057">
                <a:alpha val="8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1" name="Text 6"/>
          <p:cNvSpPr/>
          <p:nvPr/>
        </p:nvSpPr>
        <p:spPr>
          <a:xfrm>
            <a:off x="1005840" y="5340096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my-app -- --template react-ts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87552"/>
            <a:ext cx="10911535" cy="18288"/>
          </a:xfrm>
          <a:prstGeom prst="rect">
            <a:avLst/>
          </a:prstGeom>
          <a:solidFill>
            <a:srgbClr val="253057">
              <a:alpha val="65000"/>
            </a:srgbClr>
          </a:solidFill>
          <a:ln w="12700">
            <a:solidFill>
              <a:srgbClr val="2530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640080" y="20116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Vite works so well for React + TypeScript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 dev, sensible defaults, and a flexible plugin ecosystem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3818" cy="512064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9728" cy="5120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896112" y="1527048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server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965960"/>
            <a:ext cx="292089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native ESM for a smooth dev experience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Pre-bundles dependencies for faster startup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page loads as modules are requested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938" y="1325880"/>
            <a:ext cx="3423818" cy="512064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4383938" y="1325880"/>
            <a:ext cx="109728" cy="5120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639970" y="1527048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feedback loop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6546" y="1965960"/>
            <a:ext cx="292089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Hot Module Replacement (HMR)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First‑party React Fast Refresh integration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transpile is very fast via esbuild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1325880"/>
            <a:ext cx="3423818" cy="512064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8127797" y="1325880"/>
            <a:ext cx="109728" cy="5120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8383829" y="1527048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builds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20405" y="1965960"/>
            <a:ext cx="292089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Rollup for optimized production bundles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Tree-shaking + code splitting out of the box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via vite.config.ts + plugins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87552"/>
            <a:ext cx="10911535" cy="18288"/>
          </a:xfrm>
          <a:prstGeom prst="rect">
            <a:avLst/>
          </a:prstGeom>
          <a:solidFill>
            <a:srgbClr val="253057">
              <a:alpha val="65000"/>
            </a:srgbClr>
          </a:solidFill>
          <a:ln w="12700">
            <a:solidFill>
              <a:srgbClr val="2530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640080" y="20116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React + TypeScript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“react-ts” template gives you TSX, Vite scripts, and a clean starting point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49240" cy="512064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Create the project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Install dependencies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Run the dev server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Build + preview locally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154680"/>
            <a:ext cx="4892040" cy="3063240"/>
          </a:xfrm>
          <a:prstGeom prst="rect">
            <a:avLst/>
          </a:prstGeom>
          <a:solidFill>
            <a:srgbClr val="0F1730"/>
          </a:solidFill>
          <a:ln w="12700">
            <a:solidFill>
              <a:srgbClr val="2530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1078992" y="33101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3639312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with TSX entry + components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vite.config.ts for build + plugins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dev, build, preview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path to linting/testing via plugins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285232" cy="5120640"/>
          </a:xfrm>
          <a:prstGeom prst="rect">
            <a:avLst/>
          </a:prstGeom>
          <a:solidFill>
            <a:srgbClr val="0A0F1F"/>
          </a:solidFill>
          <a:ln w="12700">
            <a:solidFill>
              <a:srgbClr val="253057">
                <a:alpha val="8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6492240" y="1527048"/>
            <a:ext cx="482803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scaffold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my-app -- --template react-ts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run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# build + test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preview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87552"/>
            <a:ext cx="10911535" cy="18288"/>
          </a:xfrm>
          <a:prstGeom prst="rect">
            <a:avLst/>
          </a:prstGeom>
          <a:solidFill>
            <a:srgbClr val="253057">
              <a:alpha val="65000"/>
            </a:srgbClr>
          </a:solidFill>
          <a:ln w="12700">
            <a:solidFill>
              <a:srgbClr val="2530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640080" y="20116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workflow: fast refresh with TSX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save → Vite updates the browser without a full reload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2971800" cy="1600200"/>
          </a:xfrm>
          <a:prstGeom prst="rect">
            <a:avLst/>
          </a:prstGeom>
          <a:solidFill>
            <a:srgbClr val="0F1730"/>
          </a:solidFill>
          <a:ln w="12700">
            <a:solidFill>
              <a:srgbClr val="2530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91440" cy="1600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1161288" y="1947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TSX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1288" y="228600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component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a hook / style)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2971800" cy="1600200"/>
          </a:xfrm>
          <a:prstGeom prst="rect">
            <a:avLst/>
          </a:prstGeom>
          <a:solidFill>
            <a:srgbClr val="0F1730"/>
          </a:solidFill>
          <a:ln w="12700">
            <a:solidFill>
              <a:srgbClr val="2530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4846320" y="1783080"/>
            <a:ext cx="91440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5047488" y="1947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47488" y="228600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modules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serves native ESM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1783080"/>
            <a:ext cx="2971800" cy="1600200"/>
          </a:xfrm>
          <a:prstGeom prst="rect">
            <a:avLst/>
          </a:prstGeom>
          <a:solidFill>
            <a:srgbClr val="0F1730"/>
          </a:solidFill>
          <a:ln w="12700">
            <a:solidFill>
              <a:srgbClr val="25305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8732520" y="1783080"/>
            <a:ext cx="9144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8933688" y="1947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update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33688" y="228600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HMR + React Fast Refresh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component state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69080" y="2423160"/>
            <a:ext cx="640080" cy="320040"/>
          </a:xfrm>
          <a:prstGeom prst="rightArrow">
            <a:avLst/>
          </a:prstGeom>
          <a:solidFill>
            <a:srgbClr val="253057"/>
          </a:solidFill>
          <a:ln w="12700">
            <a:solidFill>
              <a:srgbClr val="25305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7955280" y="2423160"/>
            <a:ext cx="640080" cy="320040"/>
          </a:xfrm>
          <a:prstGeom prst="rightArrow">
            <a:avLst/>
          </a:prstGeom>
          <a:solidFill>
            <a:srgbClr val="253057"/>
          </a:solidFill>
          <a:ln w="12700">
            <a:solidFill>
              <a:srgbClr val="25305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5291176" cy="242316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109728" cy="2423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896112" y="4178808"/>
            <a:ext cx="483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 specifics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" y="4617720"/>
            <a:ext cx="478825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@vitejs/plugin-react (or -react-swc) for React Fast Refresh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transpiles TypeScript via esbuild (for speed)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type-checking separately (tsc --noEmit --watch) if needed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0440" y="3977640"/>
            <a:ext cx="5291176" cy="242316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6260440" y="3977640"/>
            <a:ext cx="109728" cy="24231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6516472" y="4178808"/>
            <a:ext cx="483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Ergonomic defaults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3048" y="4617720"/>
            <a:ext cx="478825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&amp; path mapping via vite.config.ts + tsconfig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static assets directly (images, CSS, etc.)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plugins for linting, testing, SVGR, PWA, SSR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87552"/>
            <a:ext cx="10911535" cy="18288"/>
          </a:xfrm>
          <a:prstGeom prst="rect">
            <a:avLst/>
          </a:prstGeom>
          <a:solidFill>
            <a:srgbClr val="253057">
              <a:alpha val="65000"/>
            </a:srgbClr>
          </a:solidFill>
          <a:ln w="12700">
            <a:solidFill>
              <a:srgbClr val="2530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640080" y="20116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preview &amp; customize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bundles, environment variables, and vite.config.ts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806440" cy="512064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5349240" cy="1097280"/>
          </a:xfrm>
          <a:prstGeom prst="rect">
            <a:avLst/>
          </a:prstGeom>
          <a:solidFill>
            <a:srgbClr val="0A0F1F"/>
          </a:solidFill>
          <a:ln w="12700">
            <a:solidFill>
              <a:srgbClr val="253057">
                <a:alpha val="8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1097280" y="20756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 dist/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preview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 dist locally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exposes client-safe vars under import.meta.env. Only variables prefixed with VITE_ are exposed to your client code.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160520"/>
            <a:ext cx="5349240" cy="2011680"/>
          </a:xfrm>
          <a:prstGeom prst="rect">
            <a:avLst/>
          </a:prstGeom>
          <a:solidFill>
            <a:srgbClr val="0A0F1F"/>
          </a:solidFill>
          <a:ln w="12700">
            <a:solidFill>
              <a:srgbClr val="253057">
                <a:alpha val="8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1097280" y="4361688"/>
            <a:ext cx="4892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.env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://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// in code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1325880"/>
            <a:ext cx="4919472" cy="5120640"/>
          </a:xfrm>
          <a:prstGeom prst="rect">
            <a:avLst/>
          </a:prstGeom>
          <a:solidFill>
            <a:srgbClr val="111A33"/>
          </a:solidFill>
          <a:ln w="12700">
            <a:solidFill>
              <a:srgbClr val="253057">
                <a:alpha val="75000"/>
              </a:srgbClr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6858000" y="155448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vite.config.ts pattern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1874520"/>
            <a:ext cx="4462272" cy="3017520"/>
          </a:xfrm>
          <a:prstGeom prst="rect">
            <a:avLst/>
          </a:prstGeom>
          <a:solidFill>
            <a:srgbClr val="0A0F1F"/>
          </a:solidFill>
          <a:ln w="12700">
            <a:solidFill>
              <a:srgbClr val="253057">
                <a:alpha val="8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7086600" y="2075688"/>
            <a:ext cx="400507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defineConfig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'vite'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'@vitejs/plugin-react'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defineConfig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plugins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alias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'@'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'/src'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5029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</a:t>
            </a:r>
            <a:r>
              <a:rPr lang="en-US" sz="1300" dirty="0">
                <a:solidFill>
                  <a:srgbClr val="B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vite preview is for local smoke tests—don't use it as a production server.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Office PowerPoint</Application>
  <PresentationFormat>Widescreen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Frank Walsh</cp:lastModifiedBy>
  <cp:revision>2</cp:revision>
  <dcterms:created xsi:type="dcterms:W3CDTF">2026-02-20T11:32:18Z</dcterms:created>
  <dcterms:modified xsi:type="dcterms:W3CDTF">2026-02-20T12:09:48Z</dcterms:modified>
</cp:coreProperties>
</file>