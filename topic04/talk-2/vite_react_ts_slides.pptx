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84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80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64" d="100"/>
          <a:sy n="64" d="100"/>
        </p:scale>
        <p:origin x="3492" y="60"/>
      </p:cViewPr>
      <p:guideLst>
        <p:guide orient="horz" pos="384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3857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https://vite.dev/guide/
- https://seeklogo.com/vector-logo/405912/vite (Vite logo)
- https://commons.wikimedia.org/wiki/File:React.svg (React logo)
- https://commons.wikimedia.org/wiki/File:Typescript_logo_2020.svg (TypeScript logo)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https://vite.dev/guide/ (overview)
- https://vite.dev/guide/why (dev server startup model)
- https://vite.dev/guide/dep-pre-bundling (esbuild pre-bundling)
- https://vite.dev/guide/features (HMR + React Fast Refresh; TS via esbuild)
- https://vite.dev/guide/rolldown (Vite currently uses esbuild in dev + Rollup in prod)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https://react.dev/learn/build-a-react-app-from-scratch (recommends Vite + react-ts template)
- https://vite.dev/guide/ (default scripts)
- https://vite.dev/guide/cli (preview command)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https://vite.dev/guide/features (HMR over native ESM; React Fast Refresh; TS via esbuild; recommendation to run tsc separately)
- https://www.npmjs.com/package/@vitejs/plugin-react (React plugin; Fast Refresh in dev)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https://vite.dev/guide/build (production build)
- https://vite.dev/guide/env-and-mode (import.meta.env; VITE_ prefix)
- https://vite.dev/guide/cli (vite preview; not a production server)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987552"/>
            <a:ext cx="10911535" cy="18288"/>
          </a:xfrm>
          <a:prstGeom prst="rect">
            <a:avLst/>
          </a:prstGeom>
          <a:solidFill>
            <a:srgbClr val="253057">
              <a:alpha val="65000"/>
            </a:srgbClr>
          </a:solidFill>
          <a:ln w="12700">
            <a:solidFill>
              <a:srgbClr val="25305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pic>
        <p:nvPicPr>
          <p:cNvPr id="3" name="Image 0" descr="/mnt/data/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17320"/>
            <a:ext cx="1828800" cy="1828800"/>
          </a:xfrm>
          <a:prstGeom prst="rect">
            <a:avLst/>
          </a:prstGeom>
        </p:spPr>
      </p:pic>
      <p:pic>
        <p:nvPicPr>
          <p:cNvPr id="4" name="Image 1" descr="/mnt/data/re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705356"/>
            <a:ext cx="1188720" cy="1069848"/>
          </a:xfrm>
          <a:prstGeom prst="rect">
            <a:avLst/>
          </a:prstGeom>
        </p:spPr>
      </p:pic>
      <p:pic>
        <p:nvPicPr>
          <p:cNvPr id="5" name="Image 2" descr="/mnt/data/typescri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9080" y="1645920"/>
            <a:ext cx="1188720" cy="11887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777240" y="3246120"/>
            <a:ext cx="1063721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React + TypeScript apps with Vite</a:t>
            </a:r>
            <a:endParaRPr lang="en-US" sz="4000" dirty="0"/>
          </a:p>
        </p:txBody>
      </p:sp>
      <p:sp>
        <p:nvSpPr>
          <p:cNvPr id="7" name="Text 2"/>
          <p:cNvSpPr/>
          <p:nvPr/>
        </p:nvSpPr>
        <p:spPr>
          <a:xfrm>
            <a:off x="804672" y="3977640"/>
            <a:ext cx="105823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dev server • Instant HMR • Rollup-powered production builds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777240" y="4754880"/>
            <a:ext cx="8138160" cy="310896"/>
          </a:xfrm>
          <a:prstGeom prst="rect">
            <a:avLst/>
          </a:prstGeom>
          <a:solidFill>
            <a:srgbClr val="0F1730"/>
          </a:solidFill>
          <a:ln w="12700">
            <a:solidFill>
              <a:srgbClr val="253057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9" name="Text 4"/>
          <p:cNvSpPr/>
          <p:nvPr/>
        </p:nvSpPr>
        <p:spPr>
          <a:xfrm>
            <a:off x="941832" y="4809744"/>
            <a:ext cx="780897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TL;DR: Vite serves source as native ESM in dev and bundles for production.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777240" y="5138928"/>
            <a:ext cx="5669280" cy="1417320"/>
          </a:xfrm>
          <a:prstGeom prst="rect">
            <a:avLst/>
          </a:prstGeom>
          <a:solidFill>
            <a:srgbClr val="0A0F1F"/>
          </a:solidFill>
          <a:ln w="12700">
            <a:solidFill>
              <a:srgbClr val="253057">
                <a:alpha val="80000"/>
              </a:srgbClr>
            </a:solidFill>
            <a:prstDash val="solid"/>
          </a:ln>
          <a:effectLst>
            <a:outerShdw blurRad="381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11" name="Text 6"/>
          <p:cNvSpPr/>
          <p:nvPr/>
        </p:nvSpPr>
        <p:spPr>
          <a:xfrm>
            <a:off x="1005840" y="5340096"/>
            <a:ext cx="5212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create vite@latest my-app -- --template react-ts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my-app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987552"/>
            <a:ext cx="10911535" cy="18288"/>
          </a:xfrm>
          <a:prstGeom prst="rect">
            <a:avLst/>
          </a:prstGeom>
          <a:solidFill>
            <a:srgbClr val="253057">
              <a:alpha val="65000"/>
            </a:srgbClr>
          </a:solidFill>
          <a:ln w="12700">
            <a:solidFill>
              <a:srgbClr val="25305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Vite works so well for React + TypeScript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640080"/>
            <a:ext cx="1087495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in dev, sensible defaults, and a flexible plugin ecosystem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3423818" cy="5120640"/>
          </a:xfrm>
          <a:prstGeom prst="rect">
            <a:avLst/>
          </a:prstGeom>
          <a:solidFill>
            <a:srgbClr val="111A33"/>
          </a:solidFill>
          <a:ln w="12700">
            <a:solidFill>
              <a:srgbClr val="253057">
                <a:alpha val="75000"/>
              </a:srgbClr>
            </a:solidFill>
            <a:prstDash val="solid"/>
          </a:ln>
          <a:effectLst>
            <a:outerShdw blurRad="508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109728" cy="51206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Text 5"/>
          <p:cNvSpPr/>
          <p:nvPr/>
        </p:nvSpPr>
        <p:spPr>
          <a:xfrm>
            <a:off x="896112" y="1527048"/>
            <a:ext cx="29666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dev 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1965960"/>
            <a:ext cx="2920898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Enhances native ESM for a smooth dev experience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Pre-bundles dependencies for faster startup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page loads as modules are requested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3938" y="1325880"/>
            <a:ext cx="3423818" cy="5120640"/>
          </a:xfrm>
          <a:prstGeom prst="rect">
            <a:avLst/>
          </a:prstGeom>
          <a:solidFill>
            <a:srgbClr val="111A33"/>
          </a:solidFill>
          <a:ln w="12700">
            <a:solidFill>
              <a:srgbClr val="253057">
                <a:alpha val="75000"/>
              </a:srgbClr>
            </a:solidFill>
            <a:prstDash val="solid"/>
          </a:ln>
          <a:effectLst>
            <a:outerShdw blurRad="508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10" name="Shape 8"/>
          <p:cNvSpPr/>
          <p:nvPr/>
        </p:nvSpPr>
        <p:spPr>
          <a:xfrm>
            <a:off x="4383938" y="1325880"/>
            <a:ext cx="109728" cy="51206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1" name="Text 9"/>
          <p:cNvSpPr/>
          <p:nvPr/>
        </p:nvSpPr>
        <p:spPr>
          <a:xfrm>
            <a:off x="4639970" y="1527048"/>
            <a:ext cx="29666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feedback loop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76546" y="1965960"/>
            <a:ext cx="2920898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fast Hot Module Replacement (HMR)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First‑party React Fast Refresh integration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</a:t>
            </a:r>
            <a:r>
              <a:rPr lang="en-US" sz="1400" dirty="0" err="1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transpile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7797" y="1325880"/>
            <a:ext cx="3423818" cy="5120640"/>
          </a:xfrm>
          <a:prstGeom prst="rect">
            <a:avLst/>
          </a:prstGeom>
          <a:solidFill>
            <a:srgbClr val="111A33"/>
          </a:solidFill>
          <a:ln w="12700">
            <a:solidFill>
              <a:srgbClr val="253057">
                <a:alpha val="75000"/>
              </a:srgbClr>
            </a:solidFill>
            <a:prstDash val="solid"/>
          </a:ln>
          <a:effectLst>
            <a:outerShdw blurRad="508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14" name="Shape 12"/>
          <p:cNvSpPr/>
          <p:nvPr/>
        </p:nvSpPr>
        <p:spPr>
          <a:xfrm>
            <a:off x="8127797" y="1325880"/>
            <a:ext cx="109728" cy="5120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5" name="Text 13"/>
          <p:cNvSpPr/>
          <p:nvPr/>
        </p:nvSpPr>
        <p:spPr>
          <a:xfrm>
            <a:off x="8383829" y="1527048"/>
            <a:ext cx="29666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builds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420405" y="1965960"/>
            <a:ext cx="2920898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Rollup for optimized production bundles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Tree-shaking + code splitting out of the box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via vite.config.ts + plugins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987552"/>
            <a:ext cx="10911535" cy="18288"/>
          </a:xfrm>
          <a:prstGeom prst="rect">
            <a:avLst/>
          </a:prstGeom>
          <a:solidFill>
            <a:srgbClr val="253057">
              <a:alpha val="65000"/>
            </a:srgbClr>
          </a:solidFill>
          <a:ln w="12700">
            <a:solidFill>
              <a:srgbClr val="25305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a React + TypeScript project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640080"/>
            <a:ext cx="1087495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“react-ts” template gives you TSX, Vite scripts, and a clean starting point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5349240" cy="5120640"/>
          </a:xfrm>
          <a:prstGeom prst="rect">
            <a:avLst/>
          </a:prstGeom>
          <a:solidFill>
            <a:srgbClr val="111A33"/>
          </a:solidFill>
          <a:ln w="12700">
            <a:solidFill>
              <a:srgbClr val="253057">
                <a:alpha val="75000"/>
              </a:srgbClr>
            </a:solidFill>
            <a:prstDash val="solid"/>
          </a:ln>
          <a:effectLst>
            <a:outerShdw blurRad="508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Create the project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Install dependencies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Run the dev server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Build + preview locally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3154680"/>
            <a:ext cx="4892040" cy="3063240"/>
          </a:xfrm>
          <a:prstGeom prst="rect">
            <a:avLst/>
          </a:prstGeom>
          <a:solidFill>
            <a:srgbClr val="0F1730"/>
          </a:solidFill>
          <a:ln w="12700">
            <a:solidFill>
              <a:srgbClr val="25305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9" name="Text 7"/>
          <p:cNvSpPr/>
          <p:nvPr/>
        </p:nvSpPr>
        <p:spPr>
          <a:xfrm>
            <a:off x="1078992" y="331012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3639312"/>
            <a:ext cx="44805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 with TSX entry + components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vite.config.ts for build + plugins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Scripts: dev, build, preview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path to linting/testing via plugins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325880"/>
            <a:ext cx="5285232" cy="5120640"/>
          </a:xfrm>
          <a:prstGeom prst="rect">
            <a:avLst/>
          </a:prstGeom>
          <a:solidFill>
            <a:srgbClr val="0A0F1F"/>
          </a:solidFill>
          <a:ln w="12700">
            <a:solidFill>
              <a:srgbClr val="253057">
                <a:alpha val="80000"/>
              </a:srgbClr>
            </a:solidFill>
            <a:prstDash val="solid"/>
          </a:ln>
          <a:effectLst>
            <a:outerShdw blurRad="381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12" name="Text 10"/>
          <p:cNvSpPr/>
          <p:nvPr/>
        </p:nvSpPr>
        <p:spPr>
          <a:xfrm>
            <a:off x="6492240" y="1527048"/>
            <a:ext cx="4828032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# scaffold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create vite@latest my-app -- --template react-ts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# run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my-app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# build + test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preview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987552"/>
            <a:ext cx="10911535" cy="18288"/>
          </a:xfrm>
          <a:prstGeom prst="rect">
            <a:avLst/>
          </a:prstGeom>
          <a:solidFill>
            <a:srgbClr val="253057">
              <a:alpha val="65000"/>
            </a:srgbClr>
          </a:solidFill>
          <a:ln w="12700">
            <a:solidFill>
              <a:srgbClr val="25305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workflow: fast refresh with TSX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640080"/>
            <a:ext cx="1087495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save → Vite updates the browser without a full reload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0120" y="1783080"/>
            <a:ext cx="2971800" cy="1600200"/>
          </a:xfrm>
          <a:prstGeom prst="rect">
            <a:avLst/>
          </a:prstGeom>
          <a:solidFill>
            <a:srgbClr val="0F1730"/>
          </a:solidFill>
          <a:ln w="12700">
            <a:solidFill>
              <a:srgbClr val="25305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6" name="Shape 4"/>
          <p:cNvSpPr/>
          <p:nvPr/>
        </p:nvSpPr>
        <p:spPr>
          <a:xfrm>
            <a:off x="960120" y="1783080"/>
            <a:ext cx="91440" cy="160020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Text 5"/>
          <p:cNvSpPr/>
          <p:nvPr/>
        </p:nvSpPr>
        <p:spPr>
          <a:xfrm>
            <a:off x="1161288" y="194767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TSX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61288" y="2286000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component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 a hook / style)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46320" y="1783080"/>
            <a:ext cx="2971800" cy="1600200"/>
          </a:xfrm>
          <a:prstGeom prst="rect">
            <a:avLst/>
          </a:prstGeom>
          <a:solidFill>
            <a:srgbClr val="0F1730"/>
          </a:solidFill>
          <a:ln w="12700">
            <a:solidFill>
              <a:srgbClr val="25305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0" name="Shape 8"/>
          <p:cNvSpPr/>
          <p:nvPr/>
        </p:nvSpPr>
        <p:spPr>
          <a:xfrm>
            <a:off x="4846320" y="1783080"/>
            <a:ext cx="91440" cy="16002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1" name="Text 9"/>
          <p:cNvSpPr/>
          <p:nvPr/>
        </p:nvSpPr>
        <p:spPr>
          <a:xfrm>
            <a:off x="5047488" y="194767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dev server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47488" y="2286000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 modules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serves native ESM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732520" y="1783080"/>
            <a:ext cx="2971800" cy="1600200"/>
          </a:xfrm>
          <a:prstGeom prst="rect">
            <a:avLst/>
          </a:prstGeom>
          <a:solidFill>
            <a:srgbClr val="0F1730"/>
          </a:solidFill>
          <a:ln w="12700">
            <a:solidFill>
              <a:srgbClr val="25305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4" name="Shape 12"/>
          <p:cNvSpPr/>
          <p:nvPr/>
        </p:nvSpPr>
        <p:spPr>
          <a:xfrm>
            <a:off x="8732520" y="1783080"/>
            <a:ext cx="91440" cy="1600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5" name="Text 13"/>
          <p:cNvSpPr/>
          <p:nvPr/>
        </p:nvSpPr>
        <p:spPr>
          <a:xfrm>
            <a:off x="8933688" y="194767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update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933688" y="2286000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HMR + React Fast Refresh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component state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69080" y="2423160"/>
            <a:ext cx="640080" cy="320040"/>
          </a:xfrm>
          <a:prstGeom prst="rightArrow">
            <a:avLst/>
          </a:prstGeom>
          <a:solidFill>
            <a:srgbClr val="253057"/>
          </a:solidFill>
          <a:ln w="12700">
            <a:solidFill>
              <a:srgbClr val="253057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7955280" y="2423160"/>
            <a:ext cx="640080" cy="320040"/>
          </a:xfrm>
          <a:prstGeom prst="rightArrow">
            <a:avLst/>
          </a:prstGeom>
          <a:solidFill>
            <a:srgbClr val="253057"/>
          </a:solidFill>
          <a:ln w="12700">
            <a:solidFill>
              <a:srgbClr val="253057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987552"/>
            <a:ext cx="10911535" cy="18288"/>
          </a:xfrm>
          <a:prstGeom prst="rect">
            <a:avLst/>
          </a:prstGeom>
          <a:solidFill>
            <a:srgbClr val="253057">
              <a:alpha val="65000"/>
            </a:srgbClr>
          </a:solidFill>
          <a:ln w="12700">
            <a:solidFill>
              <a:srgbClr val="25305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preview &amp; customize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640080"/>
            <a:ext cx="1087495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bundles, environment variables, and vite.config.ts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5806440" cy="5120640"/>
          </a:xfrm>
          <a:prstGeom prst="rect">
            <a:avLst/>
          </a:prstGeom>
          <a:solidFill>
            <a:srgbClr val="111A33"/>
          </a:solidFill>
          <a:ln w="12700">
            <a:solidFill>
              <a:srgbClr val="253057">
                <a:alpha val="75000"/>
              </a:srgbClr>
            </a:solidFill>
            <a:prstDash val="solid"/>
          </a:ln>
          <a:effectLst>
            <a:outerShdw blurRad="508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commands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5349240" cy="1097280"/>
          </a:xfrm>
          <a:prstGeom prst="rect">
            <a:avLst/>
          </a:prstGeom>
          <a:solidFill>
            <a:srgbClr val="0A0F1F"/>
          </a:solidFill>
          <a:ln w="12700">
            <a:solidFill>
              <a:srgbClr val="253057">
                <a:alpha val="80000"/>
              </a:srgbClr>
            </a:solidFill>
            <a:prstDash val="solid"/>
          </a:ln>
          <a:effectLst>
            <a:outerShdw blurRad="381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/>
          <p:nvPr/>
        </p:nvSpPr>
        <p:spPr>
          <a:xfrm>
            <a:off x="1097280" y="2075688"/>
            <a:ext cx="48920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outputs dist/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preview 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serve dist locally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342900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exposes client-safe vars under import.meta.env. Only variables prefixed with VITE_ are exposed to your client code.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60520"/>
            <a:ext cx="5349240" cy="2011680"/>
          </a:xfrm>
          <a:prstGeom prst="rect">
            <a:avLst/>
          </a:prstGeom>
          <a:solidFill>
            <a:srgbClr val="0A0F1F"/>
          </a:solidFill>
          <a:ln w="12700">
            <a:solidFill>
              <a:srgbClr val="253057">
                <a:alpha val="80000"/>
              </a:srgbClr>
            </a:solidFill>
            <a:prstDash val="solid"/>
          </a:ln>
          <a:effectLst>
            <a:outerShdw blurRad="381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12" name="Text 10"/>
          <p:cNvSpPr/>
          <p:nvPr/>
        </p:nvSpPr>
        <p:spPr>
          <a:xfrm>
            <a:off x="1097280" y="4361688"/>
            <a:ext cx="48920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// .env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VITE_API_URL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://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// in code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VITE_API_URL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29400" y="1325880"/>
            <a:ext cx="4919472" cy="5120640"/>
          </a:xfrm>
          <a:prstGeom prst="rect">
            <a:avLst/>
          </a:prstGeom>
          <a:solidFill>
            <a:srgbClr val="111A33"/>
          </a:solidFill>
          <a:ln w="12700">
            <a:solidFill>
              <a:srgbClr val="253057">
                <a:alpha val="75000"/>
              </a:srgbClr>
            </a:solidFill>
            <a:prstDash val="solid"/>
          </a:ln>
          <a:effectLst>
            <a:outerShdw blurRad="50800" dist="1905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/>
          <p:nvPr/>
        </p:nvSpPr>
        <p:spPr>
          <a:xfrm>
            <a:off x="6858000" y="1554480"/>
            <a:ext cx="4526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vite.config.ts pattern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858000" y="1874520"/>
            <a:ext cx="4462272" cy="3017520"/>
          </a:xfrm>
          <a:prstGeom prst="rect">
            <a:avLst/>
          </a:prstGeom>
          <a:solidFill>
            <a:srgbClr val="0A0F1F"/>
          </a:solidFill>
          <a:ln w="12700">
            <a:solidFill>
              <a:srgbClr val="253057">
                <a:alpha val="80000"/>
              </a:srgbClr>
            </a:solidFill>
            <a:prstDash val="solid"/>
          </a:ln>
          <a:effectLst>
            <a:outerShdw blurRad="381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/>
          <p:nvPr/>
        </p:nvSpPr>
        <p:spPr>
          <a:xfrm>
            <a:off x="7086600" y="2075688"/>
            <a:ext cx="4005072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defineConfig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'vite'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react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'@vitejs/plugin-react'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defineConfig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plugins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()],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resolve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alias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'@'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'/src'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50292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Reminder:</a:t>
            </a:r>
            <a:r>
              <a:rPr lang="en-US" sz="1300" dirty="0">
                <a:solidFill>
                  <a:srgbClr val="B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vite preview is for local smoke tests—don't use it as a production server.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896</Words>
  <Application>Microsoft Office PowerPoint</Application>
  <PresentationFormat>Widescreen</PresentationFormat>
  <Paragraphs>62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ChatGPT</dc:creator>
  <cp:lastModifiedBy>Frank Walsh</cp:lastModifiedBy>
  <cp:revision>4</cp:revision>
  <dcterms:created xsi:type="dcterms:W3CDTF">2026-02-20T11:32:18Z</dcterms:created>
  <dcterms:modified xsi:type="dcterms:W3CDTF">2026-03-10T10:06:58Z</dcterms:modified>
</cp:coreProperties>
</file>