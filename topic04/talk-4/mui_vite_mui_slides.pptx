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695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Modern bundling with ES modules means using the standardized JavaScript module system where each module can explicitly import or export functionality. This allows tools to </a:t>
            </a:r>
            <a:r>
              <a:rPr lang="en-GB" dirty="0" err="1"/>
              <a:t>analyze</a:t>
            </a:r>
            <a:r>
              <a:rPr lang="en-GB" dirty="0"/>
              <a:t> what code is actually needed. Tree shaking is the process of removing unused code—like shaking dead leaves off a tree. Together, this means your final bundle only includes the modules and parts of modules that your app actually uses, making it smaller and more efficient.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The </a:t>
            </a: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sx</a:t>
            </a:r>
            <a:r>
              <a:rPr lang="en-GB" dirty="0"/>
              <a:t> prop is a styling utility provided by libraries like Material UI. It lets you apply styles directly to a component using a JavaScript object. Think of it as a way to define inline styles but with the full power of your theme, responsive breakpoints, and other system features. It gives you a lot of flexibility without needing to write separate classes.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320040" y="274320"/>
            <a:ext cx="11551615" cy="6309360"/>
          </a:xfrm>
          <a:prstGeom prst="roundRect">
            <a:avLst/>
          </a:prstGeom>
          <a:solidFill>
            <a:srgbClr val="0C1426">
              <a:alpha val="65000"/>
            </a:srgbClr>
          </a:solidFill>
          <a:ln w="12700">
            <a:solidFill>
              <a:srgbClr val="1F2A4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11064240" cy="0"/>
          </a:xfrm>
          <a:prstGeom prst="line">
            <a:avLst/>
          </a:prstGeom>
          <a:noFill/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pic>
        <p:nvPicPr>
          <p:cNvPr id="5" name="Image 0" descr="/mnt/data/extracted_media/ppt/media/image-1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777240"/>
            <a:ext cx="822960" cy="822960"/>
          </a:xfrm>
          <a:prstGeom prst="rect">
            <a:avLst/>
          </a:prstGeom>
        </p:spPr>
      </p:pic>
      <p:pic>
        <p:nvPicPr>
          <p:cNvPr id="6" name="Image 1" descr="/mnt/data/extracted_media/ppt/media/image-1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" y="777240"/>
            <a:ext cx="822960" cy="8229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697480" y="822960"/>
            <a:ext cx="914400" cy="731520"/>
          </a:xfrm>
          <a:prstGeom prst="roundRect">
            <a:avLst/>
          </a:prstGeom>
          <a:solidFill>
            <a:srgbClr val="007FFF"/>
          </a:solidFill>
          <a:ln w="12700">
            <a:solidFill>
              <a:srgbClr val="007FF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Text 4"/>
          <p:cNvSpPr/>
          <p:nvPr/>
        </p:nvSpPr>
        <p:spPr>
          <a:xfrm>
            <a:off x="2697480" y="8686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731520" y="1600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React apps with Material UI in Vite</a:t>
            </a:r>
            <a:endParaRPr lang="en-US" sz="3600" dirty="0"/>
          </a:p>
        </p:txBody>
      </p:sp>
      <p:sp>
        <p:nvSpPr>
          <p:cNvPr id="10" name="Text 6"/>
          <p:cNvSpPr/>
          <p:nvPr/>
        </p:nvSpPr>
        <p:spPr>
          <a:xfrm>
            <a:off x="749808" y="219456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Design principles • Production-ready React components • Theming &amp; styling with the MUI system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731520" y="2971800"/>
            <a:ext cx="5760720" cy="2011680"/>
          </a:xfrm>
          <a:prstGeom prst="roundRect">
            <a:avLst/>
          </a:prstGeom>
          <a:solidFill>
            <a:srgbClr val="0A1222"/>
          </a:solidFill>
          <a:ln w="12700">
            <a:solidFill>
              <a:srgbClr val="1F2A44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2" name="Text 8"/>
          <p:cNvSpPr/>
          <p:nvPr/>
        </p:nvSpPr>
        <p:spPr>
          <a:xfrm>
            <a:off x="932688" y="31089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start (Vite + React + MUI)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32688" y="3429000"/>
            <a:ext cx="5394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create vite@latest my-app -- --template react-ts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my-app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 @mui/material @emotion/react @emotion/styled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31520" y="51206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add icons with  npm i @mui/icons-material  (optional)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320040" y="274320"/>
            <a:ext cx="11551615" cy="6309360"/>
          </a:xfrm>
          <a:prstGeom prst="roundRect">
            <a:avLst/>
          </a:prstGeom>
          <a:solidFill>
            <a:srgbClr val="0C1426">
              <a:alpha val="65000"/>
            </a:srgbClr>
          </a:solidFill>
          <a:ln w="12700">
            <a:solidFill>
              <a:srgbClr val="1F2A4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11064240" cy="0"/>
          </a:xfrm>
          <a:prstGeom prst="line">
            <a:avLst/>
          </a:prstGeom>
          <a:noFill/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Design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49808" y="12344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design system for building consistent, accessible, responsive UIs.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3611880" cy="4480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A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Shape 6"/>
          <p:cNvSpPr/>
          <p:nvPr/>
        </p:nvSpPr>
        <p:spPr>
          <a:xfrm>
            <a:off x="749808" y="1847088"/>
            <a:ext cx="64008" cy="4443984"/>
          </a:xfrm>
          <a:prstGeom prst="rect">
            <a:avLst/>
          </a:prstGeom>
          <a:solidFill>
            <a:srgbClr val="007FFF"/>
          </a:solidFill>
          <a:ln w="12700">
            <a:solidFill>
              <a:srgbClr val="007FF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9" name="Text 7"/>
          <p:cNvSpPr/>
          <p:nvPr/>
        </p:nvSpPr>
        <p:spPr>
          <a:xfrm>
            <a:off x="896112" y="199339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6112" y="2359152"/>
            <a:ext cx="3291840" cy="3822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Clear hierarchy (typography + spacing)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Motion that explains change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Consistent elevation &amp; surfaces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Accessible color contrast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26280" y="1828800"/>
            <a:ext cx="3611880" cy="4480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A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2" name="Shape 10"/>
          <p:cNvSpPr/>
          <p:nvPr/>
        </p:nvSpPr>
        <p:spPr>
          <a:xfrm>
            <a:off x="4544568" y="1847088"/>
            <a:ext cx="64008" cy="444398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Text 11"/>
          <p:cNvSpPr/>
          <p:nvPr/>
        </p:nvSpPr>
        <p:spPr>
          <a:xfrm>
            <a:off x="4690872" y="199339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90872" y="2359152"/>
            <a:ext cx="3291840" cy="3822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Navigation (tabs, drawers, app bars)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Inputs &amp; validation feedback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display (tables, chips, badges)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Responsive layouts &amp; breakpoints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321040" y="1828800"/>
            <a:ext cx="3611880" cy="4480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A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6" name="Shape 14"/>
          <p:cNvSpPr/>
          <p:nvPr/>
        </p:nvSpPr>
        <p:spPr>
          <a:xfrm>
            <a:off x="8339328" y="1847088"/>
            <a:ext cx="64008" cy="44439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7" name="Text 15"/>
          <p:cNvSpPr/>
          <p:nvPr/>
        </p:nvSpPr>
        <p:spPr>
          <a:xfrm>
            <a:off x="8485632" y="199339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85632" y="2359152"/>
            <a:ext cx="3291840" cy="3822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Faster UX decisions (defaults)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Consistency across pages &amp; teams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Built-in a11y expectations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Scales from prototype to product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320040" y="274320"/>
            <a:ext cx="11551615" cy="6309360"/>
          </a:xfrm>
          <a:prstGeom prst="roundRect">
            <a:avLst/>
          </a:prstGeom>
          <a:solidFill>
            <a:srgbClr val="0C1426">
              <a:alpha val="65000"/>
            </a:srgbClr>
          </a:solidFill>
          <a:ln w="12700">
            <a:solidFill>
              <a:srgbClr val="1F2A4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11064240" cy="0"/>
          </a:xfrm>
          <a:prstGeom prst="line">
            <a:avLst/>
          </a:prstGeom>
          <a:noFill/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Components vs MUI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49808" y="12344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 implements Material Design as a React component library with a powerful theming &amp; styling system.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623560" cy="2057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A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Shape 6"/>
          <p:cNvSpPr/>
          <p:nvPr/>
        </p:nvSpPr>
        <p:spPr>
          <a:xfrm>
            <a:off x="749808" y="1892808"/>
            <a:ext cx="64008" cy="2020824"/>
          </a:xfrm>
          <a:prstGeom prst="rect">
            <a:avLst/>
          </a:prstGeom>
          <a:solidFill>
            <a:srgbClr val="007FFF"/>
          </a:solidFill>
          <a:ln w="12700">
            <a:solidFill>
              <a:srgbClr val="007FF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9" name="Text 7"/>
          <p:cNvSpPr/>
          <p:nvPr/>
        </p:nvSpPr>
        <p:spPr>
          <a:xfrm>
            <a:off x="896112" y="2039112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@mui/material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6112" y="2404872"/>
            <a:ext cx="5303520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Prebuilt components (Button, TextField, Dialog, …)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Opinionated defaults aligned with Material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Theme-based variants + overrides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46520" y="1874520"/>
            <a:ext cx="5486400" cy="2057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A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2" name="Shape 10"/>
          <p:cNvSpPr/>
          <p:nvPr/>
        </p:nvSpPr>
        <p:spPr>
          <a:xfrm>
            <a:off x="6464808" y="1892808"/>
            <a:ext cx="64008" cy="202082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Text 11"/>
          <p:cNvSpPr/>
          <p:nvPr/>
        </p:nvSpPr>
        <p:spPr>
          <a:xfrm>
            <a:off x="6611112" y="203911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@mui/base (optional)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11112" y="2404872"/>
            <a:ext cx="5166360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Unstyled building blocks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Bring your own design language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Same accessibility &amp; behavior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4160520"/>
            <a:ext cx="11201400" cy="2148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A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6" name="Shape 14"/>
          <p:cNvSpPr/>
          <p:nvPr/>
        </p:nvSpPr>
        <p:spPr>
          <a:xfrm>
            <a:off x="749808" y="4178808"/>
            <a:ext cx="64008" cy="21122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7" name="Text 15"/>
          <p:cNvSpPr/>
          <p:nvPr/>
        </p:nvSpPr>
        <p:spPr>
          <a:xfrm>
            <a:off x="896112" y="4325112"/>
            <a:ext cx="10927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fits in Vite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6112" y="4690872"/>
            <a:ext cx="10881360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Vite dev server + React Fast Refresh for instant UI iteration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TypeScript types for component props and theme augmentation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Modern bundling with ES modules + tree-shaking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320040" y="274320"/>
            <a:ext cx="11551615" cy="6309360"/>
          </a:xfrm>
          <a:prstGeom prst="roundRect">
            <a:avLst/>
          </a:prstGeom>
          <a:solidFill>
            <a:srgbClr val="0C1426">
              <a:alpha val="65000"/>
            </a:srgbClr>
          </a:solidFill>
          <a:ln w="12700">
            <a:solidFill>
              <a:srgbClr val="1F2A4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11064240" cy="0"/>
          </a:xfrm>
          <a:prstGeom prst="line">
            <a:avLst/>
          </a:prstGeom>
          <a:noFill/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MUI in a Vite + React app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49808" y="12344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Install, then wrap your app with ThemeProvider and CssBaseline.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806440" cy="4434840"/>
          </a:xfrm>
          <a:prstGeom prst="roundRect">
            <a:avLst/>
          </a:prstGeom>
          <a:solidFill>
            <a:srgbClr val="0A1222"/>
          </a:solidFill>
          <a:ln w="12700">
            <a:solidFill>
              <a:srgbClr val="1F2A44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/>
          <p:nvPr/>
        </p:nvSpPr>
        <p:spPr>
          <a:xfrm>
            <a:off x="932688" y="2011680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32688" y="2331720"/>
            <a:ext cx="5440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 @mui/material @emotion/react @emotion/styled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optional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 @mui/icons-material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29400" y="1874520"/>
            <a:ext cx="5285232" cy="4434840"/>
          </a:xfrm>
          <a:prstGeom prst="roundRect">
            <a:avLst/>
          </a:prstGeom>
          <a:solidFill>
            <a:srgbClr val="0A1222"/>
          </a:solidFill>
          <a:ln w="12700">
            <a:solidFill>
              <a:srgbClr val="1F2A44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1" name="Text 9"/>
          <p:cNvSpPr/>
          <p:nvPr/>
        </p:nvSpPr>
        <p:spPr>
          <a:xfrm>
            <a:off x="6830568" y="2011680"/>
            <a:ext cx="4919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main.tsx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30568" y="2331720"/>
            <a:ext cx="4919472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React from 'react'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ReactDOM from 'react-dom/client'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App from './App'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CssBaseline } from '@mui/material'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ThemeProvider, createTheme } from '@mui/material/styles'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theme = createTheme({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palette: { mode: 'dark'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ReactDOM.createRoot(document.getElementById('root')!).render(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&lt;React.StrictMode&gt;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&lt;ThemeProvider theme={theme}&gt;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&lt;CssBaseline /&gt;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&lt;App /&gt;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&lt;/ThemeProvider&gt;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&lt;/React.StrictMode&gt;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320040" y="274320"/>
            <a:ext cx="11551615" cy="6309360"/>
          </a:xfrm>
          <a:prstGeom prst="roundRect">
            <a:avLst/>
          </a:prstGeom>
          <a:solidFill>
            <a:srgbClr val="0C1426">
              <a:alpha val="65000"/>
            </a:srgbClr>
          </a:solidFill>
          <a:ln w="12700">
            <a:solidFill>
              <a:srgbClr val="1F2A4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11064240" cy="0"/>
          </a:xfrm>
          <a:prstGeom prst="line">
            <a:avLst/>
          </a:prstGeom>
          <a:noFill/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 React Components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49808" y="12344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Compositional building blocks: layout, inputs, navigation, feedback, and data display.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370332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A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Shape 6"/>
          <p:cNvSpPr/>
          <p:nvPr/>
        </p:nvSpPr>
        <p:spPr>
          <a:xfrm>
            <a:off x="749808" y="1847088"/>
            <a:ext cx="64008" cy="1975104"/>
          </a:xfrm>
          <a:prstGeom prst="rect">
            <a:avLst/>
          </a:prstGeom>
          <a:solidFill>
            <a:srgbClr val="007FFF"/>
          </a:solidFill>
          <a:ln w="12700">
            <a:solidFill>
              <a:srgbClr val="007FF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9" name="Text 7"/>
          <p:cNvSpPr/>
          <p:nvPr/>
        </p:nvSpPr>
        <p:spPr>
          <a:xfrm>
            <a:off x="896112" y="19933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6112" y="2359152"/>
            <a:ext cx="338328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Box, Stack, Grid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Container, Paper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Responsive breakpoints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828800"/>
            <a:ext cx="370332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A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2" name="Shape 10"/>
          <p:cNvSpPr/>
          <p:nvPr/>
        </p:nvSpPr>
        <p:spPr>
          <a:xfrm>
            <a:off x="4590288" y="1847088"/>
            <a:ext cx="64008" cy="197510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Text 11"/>
          <p:cNvSpPr/>
          <p:nvPr/>
        </p:nvSpPr>
        <p:spPr>
          <a:xfrm>
            <a:off x="4736592" y="19933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36592" y="2359152"/>
            <a:ext cx="338328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TextField, Select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Checkbox, Switch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FormControl + validation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12480" y="1828800"/>
            <a:ext cx="352044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A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6" name="Shape 14"/>
          <p:cNvSpPr/>
          <p:nvPr/>
        </p:nvSpPr>
        <p:spPr>
          <a:xfrm>
            <a:off x="8430768" y="1847088"/>
            <a:ext cx="64008" cy="19751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7" name="Text 15"/>
          <p:cNvSpPr/>
          <p:nvPr/>
        </p:nvSpPr>
        <p:spPr>
          <a:xfrm>
            <a:off x="8577072" y="199339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77072" y="2359152"/>
            <a:ext cx="32004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AppBar, Toolbar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Tabs, Drawer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Breadcrumbs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4114800"/>
            <a:ext cx="11201400" cy="2194560"/>
          </a:xfrm>
          <a:prstGeom prst="roundRect">
            <a:avLst/>
          </a:prstGeom>
          <a:solidFill>
            <a:srgbClr val="0A1222"/>
          </a:solidFill>
          <a:ln w="12700">
            <a:solidFill>
              <a:srgbClr val="1F2A44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/>
          <p:nvPr/>
        </p:nvSpPr>
        <p:spPr>
          <a:xfrm>
            <a:off x="932688" y="4251960"/>
            <a:ext cx="10835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typed component composition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2688" y="4572000"/>
            <a:ext cx="108356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AppBar, Toolbar, Typography, Button, Stack } from '@mui/material'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Header({ onSave }: { onSave: () =&gt; void })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&lt;AppBar position='static'&gt;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&lt;Toolbar&gt;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&lt;Typography sx={{ flexGrow: 1 }} variant='h6'&gt;Dashboard&lt;/Typography&gt;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&lt;Stack direction='row' spacing={1}&gt;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&lt;Button color='inherit'&gt;Help&lt;/Button&gt;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&lt;Button variant='contained' onClick={onSave}&gt;Save&lt;/Button&gt;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&lt;/Stack&gt;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&lt;/Toolbar&gt;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&lt;/AppBar&gt;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320040" y="274320"/>
            <a:ext cx="11551615" cy="6309360"/>
          </a:xfrm>
          <a:prstGeom prst="roundRect">
            <a:avLst/>
          </a:prstGeom>
          <a:solidFill>
            <a:srgbClr val="0C1426">
              <a:alpha val="65000"/>
            </a:srgbClr>
          </a:solidFill>
          <a:ln w="12700">
            <a:solidFill>
              <a:srgbClr val="1F2A4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11064240" cy="0"/>
          </a:xfrm>
          <a:prstGeom prst="line">
            <a:avLst/>
          </a:prstGeom>
          <a:noFill/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49808" y="12344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design tokens once, then consume them everywhere.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3840480" cy="2103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A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Shape 6"/>
          <p:cNvSpPr/>
          <p:nvPr/>
        </p:nvSpPr>
        <p:spPr>
          <a:xfrm>
            <a:off x="749808" y="1847088"/>
            <a:ext cx="64008" cy="2066544"/>
          </a:xfrm>
          <a:prstGeom prst="rect">
            <a:avLst/>
          </a:prstGeom>
          <a:solidFill>
            <a:srgbClr val="007FFF"/>
          </a:solidFill>
          <a:ln w="12700">
            <a:solidFill>
              <a:srgbClr val="007FF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9" name="Text 7"/>
          <p:cNvSpPr/>
          <p:nvPr/>
        </p:nvSpPr>
        <p:spPr>
          <a:xfrm>
            <a:off x="896112" y="199339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tokens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6112" y="2359152"/>
            <a:ext cx="352044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palette (colors + mode)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typography (scale + font)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shape, spacing, shadows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828800"/>
            <a:ext cx="3566160" cy="2103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A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2" name="Shape 10"/>
          <p:cNvSpPr/>
          <p:nvPr/>
        </p:nvSpPr>
        <p:spPr>
          <a:xfrm>
            <a:off x="4773168" y="1847088"/>
            <a:ext cx="64008" cy="206654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Text 11"/>
          <p:cNvSpPr/>
          <p:nvPr/>
        </p:nvSpPr>
        <p:spPr>
          <a:xfrm>
            <a:off x="4919472" y="19933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19472" y="2359152"/>
            <a:ext cx="324612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breakpoints (xs…xl)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responsive typography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Grid + sx responsive values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503920" y="1828800"/>
            <a:ext cx="3429000" cy="2103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A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6" name="Shape 14"/>
          <p:cNvSpPr/>
          <p:nvPr/>
        </p:nvSpPr>
        <p:spPr>
          <a:xfrm>
            <a:off x="8522208" y="1847088"/>
            <a:ext cx="64008" cy="20665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7" name="Text 15"/>
          <p:cNvSpPr/>
          <p:nvPr/>
        </p:nvSpPr>
        <p:spPr>
          <a:xfrm>
            <a:off x="8668512" y="199339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defaults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68512" y="2359152"/>
            <a:ext cx="310896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variants (contained, outlined…)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size &amp; density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global style overrides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4160520"/>
            <a:ext cx="11201400" cy="2148840"/>
          </a:xfrm>
          <a:prstGeom prst="roundRect">
            <a:avLst/>
          </a:prstGeom>
          <a:solidFill>
            <a:srgbClr val="0A1222"/>
          </a:solidFill>
          <a:ln w="12700">
            <a:solidFill>
              <a:srgbClr val="1F2A44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/>
          <p:nvPr/>
        </p:nvSpPr>
        <p:spPr>
          <a:xfrm>
            <a:off x="932688" y="4297680"/>
            <a:ext cx="10835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createTheme()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2688" y="4617720"/>
            <a:ext cx="10835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createTheme } from '@mui/material/styles'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theme = createTheme({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palette: { primary: { main: '#007FFF' }, mode: 'light'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typography: { fontFamily: 'Inter, system-ui, sans-serif'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shape: { borderRadius: 12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320040" y="274320"/>
            <a:ext cx="11551615" cy="6309360"/>
          </a:xfrm>
          <a:prstGeom prst="roundRect">
            <a:avLst/>
          </a:prstGeom>
          <a:solidFill>
            <a:srgbClr val="0C1426">
              <a:alpha val="65000"/>
            </a:srgbClr>
          </a:solidFill>
          <a:ln w="12700">
            <a:solidFill>
              <a:srgbClr val="1F2A4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11064240" cy="0"/>
          </a:xfrm>
          <a:prstGeom prst="line">
            <a:avLst/>
          </a:prstGeom>
          <a:noFill/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styling in MUI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49808" y="12344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sx for one-offs, styled() for reusable components, and theme overrides for global consistency.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3703320" cy="2148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A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Shape 6"/>
          <p:cNvSpPr/>
          <p:nvPr/>
        </p:nvSpPr>
        <p:spPr>
          <a:xfrm>
            <a:off x="749808" y="1847088"/>
            <a:ext cx="64008" cy="2112264"/>
          </a:xfrm>
          <a:prstGeom prst="rect">
            <a:avLst/>
          </a:prstGeom>
          <a:solidFill>
            <a:srgbClr val="007FFF"/>
          </a:solidFill>
          <a:ln w="12700">
            <a:solidFill>
              <a:srgbClr val="007FF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9" name="Text 7"/>
          <p:cNvSpPr/>
          <p:nvPr/>
        </p:nvSpPr>
        <p:spPr>
          <a:xfrm>
            <a:off x="896112" y="19933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sx prop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6112" y="2359152"/>
            <a:ext cx="3383280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Theme-aware inline styles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Responsive object syntax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Great for rapid iteration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828800"/>
            <a:ext cx="3703320" cy="2148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A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2" name="Shape 10"/>
          <p:cNvSpPr/>
          <p:nvPr/>
        </p:nvSpPr>
        <p:spPr>
          <a:xfrm>
            <a:off x="4590288" y="1847088"/>
            <a:ext cx="64008" cy="21122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Text 11"/>
          <p:cNvSpPr/>
          <p:nvPr/>
        </p:nvSpPr>
        <p:spPr>
          <a:xfrm>
            <a:off x="4736592" y="19933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styled()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36592" y="2359152"/>
            <a:ext cx="3383280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Reusable styled components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Access theme tokens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Co-located styling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12480" y="1828800"/>
            <a:ext cx="3520440" cy="2148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A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6" name="Shape 14"/>
          <p:cNvSpPr/>
          <p:nvPr/>
        </p:nvSpPr>
        <p:spPr>
          <a:xfrm>
            <a:off x="8430768" y="1847088"/>
            <a:ext cx="64008" cy="21122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7" name="Text 15"/>
          <p:cNvSpPr/>
          <p:nvPr/>
        </p:nvSpPr>
        <p:spPr>
          <a:xfrm>
            <a:off x="8577072" y="199339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overrides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77072" y="2359152"/>
            <a:ext cx="3200400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Global component defaults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variants + styleOverrides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Consistency at scale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4251960"/>
            <a:ext cx="11201400" cy="2057400"/>
          </a:xfrm>
          <a:prstGeom prst="roundRect">
            <a:avLst/>
          </a:prstGeom>
          <a:solidFill>
            <a:srgbClr val="0A1222"/>
          </a:solidFill>
          <a:ln w="12700">
            <a:solidFill>
              <a:srgbClr val="1F2A44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/>
          <p:nvPr/>
        </p:nvSpPr>
        <p:spPr>
          <a:xfrm>
            <a:off x="932688" y="4389120"/>
            <a:ext cx="10835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sx + overrides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2688" y="4709160"/>
            <a:ext cx="10835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sx={{ px: 2, borderRadius: 2 }} variant='contained'&gt;Action&lt;/Button&gt;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createTheme({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components: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MuiButton: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defaultProps: { disableElevation: true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styleOverrides: { root: { textTransform: 'none' }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320040" y="274320"/>
            <a:ext cx="11551615" cy="6309360"/>
          </a:xfrm>
          <a:prstGeom prst="roundRect">
            <a:avLst/>
          </a:prstGeom>
          <a:solidFill>
            <a:srgbClr val="0C1426">
              <a:alpha val="65000"/>
            </a:srgbClr>
          </a:solidFill>
          <a:ln w="12700">
            <a:solidFill>
              <a:srgbClr val="1F2A4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11064240" cy="0"/>
          </a:xfrm>
          <a:prstGeom prst="line">
            <a:avLst/>
          </a:prstGeom>
          <a:noFill/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in a Vite environment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49808" y="12344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DX fast, the UI consistent, and the bundle lean.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557784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A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Shape 6"/>
          <p:cNvSpPr/>
          <p:nvPr/>
        </p:nvSpPr>
        <p:spPr>
          <a:xfrm>
            <a:off x="749808" y="1847088"/>
            <a:ext cx="64008" cy="197510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9" name="Text 7"/>
          <p:cNvSpPr/>
          <p:nvPr/>
        </p:nvSpPr>
        <p:spPr>
          <a:xfrm>
            <a:off x="896112" y="199339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experience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6112" y="2359152"/>
            <a:ext cx="52578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React Fast Refresh + component-driven workflow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Type props + events for reliable refactors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Extract shared theme tokens early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1828800"/>
            <a:ext cx="553212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A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2" name="Shape 10"/>
          <p:cNvSpPr/>
          <p:nvPr/>
        </p:nvSpPr>
        <p:spPr>
          <a:xfrm>
            <a:off x="6419088" y="1847088"/>
            <a:ext cx="64008" cy="19751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Text 11"/>
          <p:cNvSpPr/>
          <p:nvPr/>
        </p:nvSpPr>
        <p:spPr>
          <a:xfrm>
            <a:off x="6565392" y="1993392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65392" y="2359152"/>
            <a:ext cx="521208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Import from @mui/material (tree-shaking friendly)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Avoid shipping unused icon packs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Prefer theme + sx over ad-hoc CSS duplication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4160520"/>
            <a:ext cx="11201400" cy="2148840"/>
          </a:xfrm>
          <a:prstGeom prst="roundRect">
            <a:avLst/>
          </a:prstGeom>
          <a:solidFill>
            <a:srgbClr val="0A1222"/>
          </a:solidFill>
          <a:ln w="12700">
            <a:solidFill>
              <a:srgbClr val="1F2A44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6" name="Text 14"/>
          <p:cNvSpPr/>
          <p:nvPr/>
        </p:nvSpPr>
        <p:spPr>
          <a:xfrm>
            <a:off x="932688" y="4297680"/>
            <a:ext cx="10835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toggle (pattern)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32688" y="4617720"/>
            <a:ext cx="10835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[mode, setMode] = useState&lt;'light' | 'dark'&gt;('light')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theme = useMemo(() =&gt; createTheme({ palette: { mode } }), [mode])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&lt;ThemeProvider theme={theme}&gt;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&lt;IconButton onClick={() =&gt; setMode(m =&gt; (m === 'light' ? 'dark' : 'light'))} /&gt;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&lt;App /&gt;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&lt;/ThemeProvider&gt;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1149</Words>
  <Application>Microsoft Office PowerPoint</Application>
  <PresentationFormat>Widescreen</PresentationFormat>
  <Paragraphs>171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ChatGPT</dc:creator>
  <cp:lastModifiedBy>Frank Walsh</cp:lastModifiedBy>
  <cp:revision>2</cp:revision>
  <dcterms:created xsi:type="dcterms:W3CDTF">2026-02-20T12:20:33Z</dcterms:created>
  <dcterms:modified xsi:type="dcterms:W3CDTF">2026-02-20T12:29:15Z</dcterms:modified>
</cp:coreProperties>
</file>