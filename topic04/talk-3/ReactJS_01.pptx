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622" r:id="rId2"/>
    <p:sldId id="623" r:id="rId3"/>
    <p:sldId id="575" r:id="rId4"/>
    <p:sldId id="583" r:id="rId5"/>
    <p:sldId id="595" r:id="rId6"/>
    <p:sldId id="592" r:id="rId7"/>
    <p:sldId id="554" r:id="rId8"/>
    <p:sldId id="597" r:id="rId9"/>
    <p:sldId id="631" r:id="rId10"/>
    <p:sldId id="616" r:id="rId11"/>
    <p:sldId id="626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2045" autoAdjust="0"/>
  </p:normalViewPr>
  <p:slideViewPr>
    <p:cSldViewPr>
      <p:cViewPr varScale="1">
        <p:scale>
          <a:sx n="80" d="100"/>
          <a:sy n="80" d="100"/>
        </p:scale>
        <p:origin x="153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C36C520-98C5-907F-5E3B-CFD72C256B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03E93E6-DEEC-F4F8-DAC8-99C6C691EF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664D733-B5EB-8215-4043-90D62CC70FC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4B71BBAA-FAAD-CAD6-E4F5-80850E04FD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3896649-3404-66F5-A615-D544AC3B22E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01619DA4-3E82-E83C-6536-323AA2323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9B5789E-C2A1-4F06-AD49-D6F9F59FBA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ＭＳ Ｐゴシック" pitchFamily="-106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6" charset="0"/>
        <a:ea typeface="ＭＳ Ｐゴシック" pitchFamily="-106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Frank/AppData/Local/Programs/Microsoft%20VS%20Code/resources/app/out/vs/code/electron-sandbox/workbench/workbench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Frank/AppData/Local/Programs/Microsoft%20VS%20Code/resources/app/out/vs/code/electron-sandbox/workbench/workbench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C4C9F126-2F5B-8CE0-6119-39B76F7C4B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82B4F511-1DBB-748C-081C-EC35EAEB8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9EF22EB6-8FE7-8DEC-9A16-D5DC28A16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ACE248C-6DB5-4726-97B2-58685FB119F3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B5789E-C2A1-4F06-AD49-D6F9F59FBA85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709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defining a functional component in React using TypeScript. Here's a breakdown of what's happening: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CCCCCC"/>
                </a:solidFill>
                <a:effectLst/>
                <a:latin typeface="Segoe WPC"/>
              </a:rPr>
              <a:t>const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 Demo: This is declaring a constant named 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Segoe WPC"/>
                <a:hlinkClick r:id="rId3" tooltip="src/components/samples/02_embeddedVars.tsx"/>
              </a:rPr>
              <a:t>Demo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. In React, it's conventional to start component names with a capital letter.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 err="1">
                <a:solidFill>
                  <a:srgbClr val="CCCCCC"/>
                </a:solidFill>
                <a:effectLst/>
                <a:latin typeface="Segoe WPC"/>
              </a:rPr>
              <a:t>React.FC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: This is a TypeScript type that stands for "React Function Component". It's a type provided by the @types/react package, which provides TypeScript definitions for React. By typing 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Segoe WPC"/>
                <a:hlinkClick r:id="rId3" tooltip="src/components/samples/02_embeddedVars.tsx"/>
              </a:rPr>
              <a:t>Demo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as </a:t>
            </a:r>
            <a:r>
              <a:rPr lang="en-GB" b="0" i="0" dirty="0" err="1">
                <a:solidFill>
                  <a:srgbClr val="CCCCCC"/>
                </a:solidFill>
                <a:effectLst/>
                <a:latin typeface="Segoe WPC"/>
              </a:rPr>
              <a:t>React.FC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, you're telling TypeScript that </a:t>
            </a:r>
            <a:r>
              <a:rPr lang="en-GB" b="0" i="0" u="none" strike="noStrike" dirty="0">
                <a:solidFill>
                  <a:srgbClr val="CCCCCC"/>
                </a:solidFill>
                <a:effectLst/>
                <a:latin typeface="Segoe WPC"/>
                <a:hlinkClick r:id="rId3" tooltip="src/components/samples/02_embeddedVars.tsx"/>
              </a:rPr>
              <a:t>Demo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is a functional component.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B5789E-C2A1-4F06-AD49-D6F9F59FBA85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9892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his is calling the </a:t>
            </a:r>
            <a:r>
              <a:rPr lang="en-GB" dirty="0"/>
              <a:t>map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method on the </a:t>
            </a:r>
            <a:r>
              <a:rPr lang="en-GB" b="0" i="0" u="none" strike="noStrike" dirty="0">
                <a:effectLst/>
                <a:latin typeface="Segoe WPC"/>
                <a:hlinkClick r:id="rId3" tooltip="src/components/samples/04_iteration.tsx"/>
              </a:rPr>
              <a:t>frameworks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array. </a:t>
            </a:r>
            <a:r>
              <a:rPr lang="en-GB" dirty="0"/>
              <a:t>map</a:t>
            </a:r>
            <a:r>
              <a:rPr lang="en-GB" b="0" i="0" dirty="0">
                <a:solidFill>
                  <a:srgbClr val="CCCCCC"/>
                </a:solidFill>
                <a:effectLst/>
                <a:latin typeface="Segoe WPC"/>
              </a:rPr>
              <a:t> is a built-in JavaScript method that creates a new array by applying a function to every </a:t>
            </a:r>
            <a:r>
              <a:rPr lang="en-GB" b="0" i="0" dirty="0" err="1">
                <a:solidFill>
                  <a:srgbClr val="CCCCCC"/>
                </a:solidFill>
                <a:effectLst/>
                <a:latin typeface="Segoe WPC"/>
              </a:rPr>
              <a:t>elem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B5789E-C2A1-4F06-AD49-D6F9F59FBA85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913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DCAC3C-8CEB-2DC4-B1C4-B054AF3BB3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EDF0A1-91B4-DCA4-00D5-F32A3488F5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0B0A90-DBF6-0496-8495-0D5A249186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5020D2-2BF6-49CA-90B7-49C64759FC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325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0FE69D-0692-57C7-6CF7-FD6675CA8E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A6078B-279C-060D-FA23-32E2541E4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98B6A2-F994-455D-EC86-AA35D31856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0FD76-2600-470C-B220-FCD85C8E16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471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AB5B60-5E70-2793-D663-89EB833783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DDA92E-5AD2-D0A0-1FFE-9A2F75FC3A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B3A473-E8C4-62CB-0078-919A260EC4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310F8-678A-4CCD-9011-EC89267EF9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64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7F7271-BF35-C6FB-8535-1AEFF6FB78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D9C61-CB4C-EBB5-A86F-E139D91783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5033B-9A8C-2E81-A28C-37E6C743EC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FC9AB-7780-4925-9113-F166AE943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88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2F255F5-A0E9-3203-E31A-6C55F01D00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AC3C23B-23E5-A773-3240-08A3997E2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4186354-6450-081E-8CB7-2919E23D16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E753F-9DF2-4429-B732-01A0D9F790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486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31295F0-206B-596F-5026-D555AAA33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49AE1D-A07B-1D98-CC8C-72A72CDC17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EF6B31-CBE4-BF23-8161-06580DDA91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525B3-71AC-4963-81CC-476B7FE86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89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B624AA2-02FF-CA5D-F444-3D6D82BB0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57B7697-4918-E7B1-698C-2422F31999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05B89D-73D0-5568-F271-60638419EB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45493-4DFD-48CE-B16B-51EAE34151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96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64AD7-EC52-B387-16BB-A3AC6A295F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9C383D-810C-4004-31B5-BB289BE049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49CD3F-FDDE-2330-AD88-F1C0C2932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051C0-D0C3-46A2-8DD8-2EC8E5C384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82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894987-4571-63E7-A934-3472F28984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C234E-49A4-B932-C44F-9022799868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28F58-7B12-0995-1D2D-9E3CF78086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84A79-2C5D-45ED-A6A5-1FF48B1A53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5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C11314-3FF4-0961-7D99-547622C0B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2D633F-75E0-5231-3740-452A50B0CC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8B562A-2C8E-F7D8-F9C7-86432D8B3E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BE005-0825-468C-AA99-4AB4DD8BA5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32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77DF65-A5AD-8727-8CBC-C3FC89A792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86BA96-1802-458A-C0E1-623100BAEB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9A3FD2-D7D7-99B7-FAA6-8B3772BDE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6A2D5-EAC8-4371-8A68-90031EF610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43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AEBEA2-D9EB-CC8D-A919-64363336C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A56DD5-BDC5-53E8-80C5-F964BD143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AB3E009-3B8B-F744-6A03-F273E005F2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4FB350D-6452-8CB9-B03B-8BDD92C575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7C7E1B-36B3-9FED-8D96-F7F1BB8C79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E8ADBAE-735E-4A49-8731-3E835CBBF1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  <a:ea typeface="ＭＳ Ｐゴシック" pitchFamily="-106" charset="-128"/>
          <a:cs typeface="ＭＳ Ｐゴシック" pitchFamily="-106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itchFamily="-10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ＭＳ Ｐゴシック" pitchFamily="-106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ＭＳ Ｐゴシック" pitchFamily="-106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ＭＳ Ｐゴシック" pitchFamily="-106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ＭＳ Ｐゴシック" pitchFamily="-106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damiandeluca.com.ar/react-hooks-que-nos-traen-de-nuev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919" name="Rectangle 3891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D7437358-DC11-25DB-E2AC-37CB41DC6F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13809" y="953037"/>
            <a:ext cx="4036333" cy="1709849"/>
          </a:xfrm>
        </p:spPr>
        <p:txBody>
          <a:bodyPr anchor="b">
            <a:normAutofit/>
          </a:bodyPr>
          <a:lstStyle/>
          <a:p>
            <a:pPr algn="l" eaLnBrk="1" hangingPunct="1"/>
            <a:r>
              <a:rPr lang="en-US" altLang="en-US" sz="2000" b="0">
                <a:ea typeface="ＭＳ Ｐゴシック" panose="020B0600070205080204" pitchFamily="34" charset="-128"/>
              </a:rPr>
              <a:t>… back to components . . .</a:t>
            </a:r>
          </a:p>
        </p:txBody>
      </p:sp>
      <p:grpSp>
        <p:nvGrpSpPr>
          <p:cNvPr id="38921" name="Group 3892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8922" name="Rectangle 3892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23" name="Rectangle 3892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24" name="Rectangle 389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926" name="Rectangle 389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28" name="Rectangle 3892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and black symbol&#10;&#10;Description automatically generated">
            <a:extLst>
              <a:ext uri="{FF2B5EF4-FFF2-40B4-BE49-F238E27FC236}">
                <a16:creationId xmlns:a16="http://schemas.microsoft.com/office/drawing/2014/main" id="{A38AF081-0E5A-6FC8-FE65-740FF0B05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22492" y="943023"/>
            <a:ext cx="5536001" cy="4913200"/>
          </a:xfrm>
          <a:prstGeom prst="rect">
            <a:avLst/>
          </a:prstGeom>
        </p:spPr>
      </p:pic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443F0A97-707B-20F2-EA35-5D5EA531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FontTx/>
              <a:buNone/>
            </a:pPr>
            <a:fld id="{77707C30-3088-4643-97F5-71E36F98CD5E}" type="slidenum">
              <a:rPr lang="en-US" altLang="en-US" b="0" smtClean="0"/>
              <a:pPr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</a:t>
            </a:fld>
            <a:endParaRPr lang="en-US" altLang="en-US" b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EDCD7-F7F0-01DE-014E-8E238396EA09}"/>
              </a:ext>
            </a:extLst>
          </p:cNvPr>
          <p:cNvSpPr txBox="1"/>
          <p:nvPr/>
        </p:nvSpPr>
        <p:spPr>
          <a:xfrm>
            <a:off x="8725052" y="5656168"/>
            <a:ext cx="273344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latin typeface="+mn-lt"/>
                <a:ea typeface="+mn-ea"/>
                <a:hlinkClick r:id="rId4" tooltip="https://damiandeluca.com.ar/react-hooks-que-nos-traen-de-nuev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  <a:latin typeface="+mn-lt"/>
                <a:ea typeface="+mn-ea"/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latin typeface="+mn-lt"/>
                <a:ea typeface="+mn-ea"/>
                <a:hlinkClick r:id="rId5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IE" sz="7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2F6331-B38C-7919-E547-ADAA42EC6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958941"/>
            <a:ext cx="3894568" cy="3435383"/>
          </a:xfrm>
          <a:prstGeom prst="rect">
            <a:avLst/>
          </a:prstGeom>
        </p:spPr>
      </p:pic>
      <p:sp>
        <p:nvSpPr>
          <p:cNvPr id="40961" name="Rectangle 2">
            <a:extLst>
              <a:ext uri="{FF2B5EF4-FFF2-40B4-BE49-F238E27FC236}">
                <a16:creationId xmlns:a16="http://schemas.microsoft.com/office/drawing/2014/main" id="{7BEE0A9C-F8C2-9452-86FE-73778CA20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990000"/>
                </a:solidFill>
                <a:ea typeface="ＭＳ Ｐゴシック" panose="020B0600070205080204" pitchFamily="34" charset="-128"/>
              </a:rPr>
              <a:t>Demo Samples</a:t>
            </a:r>
            <a:br>
              <a:rPr lang="en-US" altLang="en-US">
                <a:solidFill>
                  <a:srgbClr val="990000"/>
                </a:solidFill>
                <a:ea typeface="ＭＳ Ｐゴシック" panose="020B0600070205080204" pitchFamily="34" charset="-128"/>
              </a:rPr>
            </a:br>
            <a:r>
              <a:rPr lang="en-US" altLang="en-US" sz="2000">
                <a:solidFill>
                  <a:srgbClr val="990000"/>
                </a:solidFill>
                <a:ea typeface="ＭＳ Ｐゴシック" panose="020B0600070205080204" pitchFamily="34" charset="-128"/>
              </a:rPr>
              <a:t>(See lab exercise)</a:t>
            </a:r>
          </a:p>
        </p:txBody>
      </p:sp>
      <p:sp>
        <p:nvSpPr>
          <p:cNvPr id="40962" name="Slide Number Placeholder 1">
            <a:extLst>
              <a:ext uri="{FF2B5EF4-FFF2-40B4-BE49-F238E27FC236}">
                <a16:creationId xmlns:a16="http://schemas.microsoft.com/office/drawing/2014/main" id="{91E7B6C9-91DC-DEEC-231F-AEC3DDAF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69BCF5-0E18-452E-AFF7-0F521E91B802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b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16F39256-5BA4-523F-B027-AF0F780CD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479" y="3572248"/>
            <a:ext cx="1600200" cy="682625"/>
          </a:xfrm>
          <a:prstGeom prst="wedgeRoundRectCallout">
            <a:avLst>
              <a:gd name="adj1" fmla="val -144870"/>
              <a:gd name="adj2" fmla="val 128937"/>
              <a:gd name="adj3" fmla="val 16667"/>
            </a:avLst>
          </a:prstGeom>
          <a:solidFill>
            <a:srgbClr val="0000FF"/>
          </a:soli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Sample</a:t>
            </a:r>
          </a:p>
          <a:p>
            <a:pPr eaLnBrk="1" hangingPunct="1">
              <a:defRPr/>
            </a:pPr>
            <a:r>
              <a:rPr lang="en-US" altLang="en-US" sz="1600" dirty="0">
                <a:solidFill>
                  <a:srgbClr val="FFFFFF"/>
                </a:solidFill>
              </a:rPr>
              <a:t>Components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30F05E8B-04BE-00F0-A6C5-CBCDD48D3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626161"/>
            <a:ext cx="2209800" cy="1014597"/>
          </a:xfrm>
          <a:prstGeom prst="wedgeRoundRectCallout">
            <a:avLst>
              <a:gd name="adj1" fmla="val -136870"/>
              <a:gd name="adj2" fmla="val 3226"/>
              <a:gd name="adj3" fmla="val 16667"/>
            </a:avLst>
          </a:prstGeom>
          <a:solidFill>
            <a:srgbClr val="0000FF"/>
          </a:soli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Typescript Types and Interfaces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0F734286-13CB-D890-D01F-7CD07AD2E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068" y="2882902"/>
            <a:ext cx="1600200" cy="442912"/>
          </a:xfrm>
          <a:prstGeom prst="wedgeRoundRectCallout">
            <a:avLst>
              <a:gd name="adj1" fmla="val -130990"/>
              <a:gd name="adj2" fmla="val 305450"/>
              <a:gd name="adj3" fmla="val 16667"/>
            </a:avLst>
          </a:prstGeom>
          <a:solidFill>
            <a:srgbClr val="FFFF00"/>
          </a:soli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en-US" sz="1600" dirty="0"/>
              <a:t>Lab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A9A628CC-77F1-4843-D892-92665679F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TSX - embedded variables.</a:t>
            </a:r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20E7CF86-339D-EE48-9719-7CE816BFE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1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Use { } to reference variable embedded in TSX.</a:t>
            </a:r>
          </a:p>
          <a:p>
            <a:pPr lvl="1"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Curly braces can contain any valid TS expression.</a:t>
            </a:r>
          </a:p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Reference</a:t>
            </a:r>
            <a:r>
              <a:rPr lang="en-US" sz="2000" b="0" dirty="0">
                <a:ea typeface="ＭＳ Ｐゴシック" charset="0"/>
                <a:cs typeface="ＭＳ Ｐゴシック" charset="0"/>
              </a:rPr>
              <a:t> </a:t>
            </a:r>
            <a:r>
              <a:rPr lang="en-US" sz="2000" b="0" dirty="0" err="1">
                <a:ea typeface="ＭＳ Ｐゴシック" charset="0"/>
                <a:cs typeface="ＭＳ Ｐゴシック" charset="0"/>
              </a:rPr>
              <a:t>src</a:t>
            </a:r>
            <a:r>
              <a:rPr lang="en-US" sz="2000" b="0" dirty="0">
                <a:ea typeface="ＭＳ Ｐゴシック" charset="0"/>
                <a:cs typeface="ＭＳ Ｐゴシック" charset="0"/>
              </a:rPr>
              <a:t>/components/samples/02_embeddedVariables.tsx</a:t>
            </a: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endParaRPr lang="en-US" sz="2000" dirty="0">
              <a:ea typeface="ＭＳ Ｐゴシック" charset="0"/>
              <a:cs typeface="ＭＳ Ｐゴシック" charset="0"/>
            </a:endParaRPr>
          </a:p>
          <a:p>
            <a:pPr marL="0" indent="0"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85C3EF58-A30C-AEAC-BC6E-2C16320E2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49412F-8E6D-4B21-BD79-29159B385F7A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b="0"/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882E7E5-1F5E-9BA1-E607-EE2F7839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587739"/>
            <a:ext cx="5765800" cy="3797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33A31E68-6BEA-C2A4-A2DC-D423D45D8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096962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Reusability.</a:t>
            </a: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14B72860-49A3-1608-C3A3-6005467822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447801"/>
            <a:ext cx="10591800" cy="4525963"/>
          </a:xfrm>
        </p:spPr>
        <p:txBody>
          <a:bodyPr/>
          <a:lstStyle/>
          <a:p>
            <a:r>
              <a:rPr lang="en-US" altLang="en-US" sz="2000" b="0" dirty="0">
                <a:ea typeface="ＭＳ Ｐゴシック" panose="020B0600070205080204" pitchFamily="34" charset="-128"/>
              </a:rPr>
              <a:t>We achieve reusability through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parameterisation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props –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Component properties / attribute / parameters.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Passing props to a component:</a:t>
            </a:r>
          </a:p>
          <a:p>
            <a:pPr marL="857250" lvl="2" indent="0">
              <a:buNone/>
            </a:pPr>
            <a:r>
              <a:rPr lang="en-US" altLang="en-US" sz="1600" b="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</a:t>
            </a:r>
            <a:r>
              <a:rPr lang="en-US" altLang="en-US" sz="1600" b="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CompName</a:t>
            </a:r>
            <a:r>
              <a:rPr lang="en-US" altLang="en-US" sz="1600" b="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 prop1Name={value}  prop2Name={value} . . . . /&gt;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Access inside component via props object:</a:t>
            </a:r>
          </a:p>
          <a:p>
            <a:pPr marL="857250" lvl="2" indent="0">
              <a:buNone/>
            </a:pPr>
            <a:r>
              <a:rPr lang="en-GB" sz="1600" b="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const</a:t>
            </a:r>
            <a:r>
              <a:rPr lang="en-GB" sz="1600" b="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 sz="1600" b="0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ComponentName</a:t>
            </a:r>
            <a:r>
              <a:rPr lang="en-GB" sz="1600" b="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= (props: PropInterface) =&gt; {</a:t>
            </a:r>
          </a:p>
          <a:p>
            <a:pPr marL="857250" lvl="2" indent="0">
              <a:buNone/>
            </a:pPr>
            <a:r>
              <a:rPr lang="en-GB" sz="1600" b="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</a:t>
            </a:r>
            <a:r>
              <a:rPr lang="en-US" altLang="en-US" sz="1600" b="0" dirty="0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const p1 = props.prop1Name      </a:t>
            </a:r>
          </a:p>
          <a:p>
            <a:pPr marL="857250" lvl="2" indent="0">
              <a:buNone/>
            </a:pPr>
            <a:r>
              <a:rPr lang="en-US" altLang="en-US" sz="1600" b="0" dirty="0">
                <a:ea typeface="ＭＳ Ｐゴシック" panose="020B0600070205080204" pitchFamily="34" charset="-128"/>
              </a:rPr>
              <a:t>      . . . . . . . .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Props are Immutable.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Part of a component’s design.</a:t>
            </a:r>
          </a:p>
          <a:p>
            <a:r>
              <a:rPr lang="en-US" altLang="en-US" sz="2000" b="0" dirty="0">
                <a:ea typeface="ＭＳ Ｐゴシック" panose="020B0600070205080204" pitchFamily="34" charset="-128"/>
              </a:rPr>
              <a:t>Reference</a:t>
            </a:r>
            <a:r>
              <a:rPr lang="en-US" altLang="en-US" sz="200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src</a:t>
            </a:r>
            <a:r>
              <a:rPr lang="en-US" altLang="en-US" sz="2000" dirty="0">
                <a:ea typeface="ＭＳ Ｐゴシック" panose="020B0600070205080204" pitchFamily="34" charset="-128"/>
              </a:rPr>
              <a:t>/components/samples/03_props.tsx (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and related story).   </a:t>
            </a:r>
          </a:p>
        </p:txBody>
      </p:sp>
      <p:sp>
        <p:nvSpPr>
          <p:cNvPr id="43011" name="Slide Number Placeholder 3">
            <a:extLst>
              <a:ext uri="{FF2B5EF4-FFF2-40B4-BE49-F238E27FC236}">
                <a16:creationId xmlns:a16="http://schemas.microsoft.com/office/drawing/2014/main" id="{29C50A88-3FD6-6443-58FC-46D04619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48AEF7-CB57-4E7D-BA95-13643238FCB2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59800054-C971-AEFE-C96D-F579043866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Aside.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D2E13B9D-1FD6-70D5-D06A-C698F173A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95401"/>
            <a:ext cx="8229600" cy="4525963"/>
          </a:xfrm>
        </p:spPr>
        <p:txBody>
          <a:bodyPr/>
          <a:lstStyle/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We can assign a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single</a:t>
            </a:r>
            <a:r>
              <a:rPr lang="en-US" altLang="en-US" sz="2000" dirty="0">
                <a:ea typeface="ＭＳ Ｐゴシック" panose="020B0600070205080204" pitchFamily="34" charset="-128"/>
              </a:rPr>
              <a:t> TSX element to a variable.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Why?</a:t>
            </a:r>
          </a:p>
          <a:p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914400" lvl="1" indent="-457200">
              <a:buFontTx/>
              <a:buAutoNum type="arabicPeriod"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914400" lvl="1" indent="-457200">
              <a:buFontTx/>
              <a:buAutoNum type="arabicPeriod"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914400" lvl="1" indent="-457200">
              <a:buFontTx/>
              <a:buAutoNum type="arabicPeriod"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914400" lvl="1" indent="-457200">
              <a:buFontTx/>
              <a:buAutoNum type="arabicPeriod"/>
            </a:pPr>
            <a:endParaRPr lang="en-US" altLang="en-US" sz="2000" dirty="0">
              <a:ea typeface="ＭＳ Ｐゴシック" panose="020B0600070205080204" pitchFamily="34" charset="-128"/>
            </a:endParaRPr>
          </a:p>
          <a:p>
            <a:pPr marL="914400" lvl="1" indent="-457200">
              <a:buNone/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5667B801-5B32-BFAD-CD66-4A4F541F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4154DF-D1BC-4866-B5DA-A89FD9523F71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b="0"/>
          </a:p>
        </p:txBody>
      </p:sp>
      <p:pic>
        <p:nvPicPr>
          <p:cNvPr id="44036" name="Picture 3" descr="Screen Shot 2018-12-21 at 19.55.45.png">
            <a:extLst>
              <a:ext uri="{FF2B5EF4-FFF2-40B4-BE49-F238E27FC236}">
                <a16:creationId xmlns:a16="http://schemas.microsoft.com/office/drawing/2014/main" id="{44F202DB-BEAC-A57F-A291-5C75603D4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925" y="2171700"/>
            <a:ext cx="57292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8C3301-7C78-F02A-FC21-A450BD593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925" y="4370388"/>
            <a:ext cx="577850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1C614C4-6CAF-03B4-25D1-68A0FD6AE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657" y="2898462"/>
            <a:ext cx="3906787" cy="2661275"/>
          </a:xfrm>
          <a:prstGeom prst="rect">
            <a:avLst/>
          </a:prstGeom>
        </p:spPr>
      </p:pic>
      <p:sp>
        <p:nvSpPr>
          <p:cNvPr id="45057" name="Title 1">
            <a:extLst>
              <a:ext uri="{FF2B5EF4-FFF2-40B4-BE49-F238E27FC236}">
                <a16:creationId xmlns:a16="http://schemas.microsoft.com/office/drawing/2014/main" id="{8DDB96CC-28B0-0CB0-2DCC-7750CC89C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Component collection - Iteration</a:t>
            </a:r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70706FBD-9011-DA41-4E95-C0B4588311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219201"/>
            <a:ext cx="8229600" cy="4525963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Use case: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Generate an array of (similar) component from a data array. 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Reference: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 </a:t>
            </a:r>
            <a:r>
              <a:rPr lang="en-US" altLang="en-US" sz="2000" b="0" dirty="0" err="1">
                <a:ea typeface="ＭＳ Ｐゴシック" panose="020B0600070205080204" pitchFamily="34" charset="-128"/>
              </a:rPr>
              <a:t>src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/components/samples/04_iteration.tsx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endParaRPr lang="en-US" altLang="en-US" b="0" dirty="0">
              <a:ea typeface="ＭＳ Ｐゴシック" panose="020B0600070205080204" pitchFamily="34" charset="-128"/>
            </a:endParaRPr>
          </a:p>
        </p:txBody>
      </p:sp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37A3921B-818C-163A-6C57-BEF849D5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606A35-7BF0-4AAC-981D-BBDE0A31D221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b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FBFD1-F240-BF5E-FAA6-51FF318BF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665" y="2845721"/>
            <a:ext cx="4818921" cy="2944896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3000" sy="103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EB533D8-0665-4AFB-0539-64D59153A925}"/>
              </a:ext>
            </a:extLst>
          </p:cNvPr>
          <p:cNvSpPr/>
          <p:nvPr/>
        </p:nvSpPr>
        <p:spPr>
          <a:xfrm>
            <a:off x="5943601" y="3213269"/>
            <a:ext cx="4626033" cy="22098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BB84D933-C993-214C-D51B-C3EECA3F5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700" y="5506996"/>
            <a:ext cx="2057400" cy="1524000"/>
          </a:xfrm>
          <a:prstGeom prst="wedgeRoundRectCallout">
            <a:avLst>
              <a:gd name="adj1" fmla="val -75403"/>
              <a:gd name="adj2" fmla="val -53565"/>
              <a:gd name="adj3" fmla="val 16667"/>
            </a:avLst>
          </a:prstGeom>
          <a:solidFill>
            <a:srgbClr val="0000FF"/>
          </a:soli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Required HTML produced by component. 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(From Chrome </a:t>
            </a:r>
            <a:r>
              <a:rPr lang="en-US" sz="1600" dirty="0" err="1">
                <a:solidFill>
                  <a:schemeClr val="lt1"/>
                </a:solidFill>
                <a:latin typeface="+mn-lt"/>
                <a:ea typeface="+mn-ea"/>
              </a:rPr>
              <a:t>Dev</a:t>
            </a:r>
            <a:r>
              <a:rPr lang="en-US" sz="1600" dirty="0">
                <a:solidFill>
                  <a:schemeClr val="lt1"/>
                </a:solidFill>
                <a:latin typeface="+mn-lt"/>
                <a:ea typeface="+mn-ea"/>
              </a:rPr>
              <a:t> Tools)</a:t>
            </a:r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972F8AC2-23B2-2BB8-12F0-CAF519321AF7}"/>
              </a:ext>
            </a:extLst>
          </p:cNvPr>
          <p:cNvSpPr/>
          <p:nvPr/>
        </p:nvSpPr>
        <p:spPr>
          <a:xfrm>
            <a:off x="1623441" y="3096108"/>
            <a:ext cx="4097924" cy="208549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ounded Rectangular Callout 8">
            <a:extLst>
              <a:ext uri="{FF2B5EF4-FFF2-40B4-BE49-F238E27FC236}">
                <a16:creationId xmlns:a16="http://schemas.microsoft.com/office/drawing/2014/main" id="{743353CE-BD0C-CEF9-A256-FE7994D03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986" y="5344700"/>
            <a:ext cx="2354892" cy="1524000"/>
          </a:xfrm>
          <a:prstGeom prst="wedgeRoundRectCallout">
            <a:avLst>
              <a:gd name="adj1" fmla="val -75403"/>
              <a:gd name="adj2" fmla="val -53565"/>
              <a:gd name="adj3" fmla="val 16667"/>
            </a:avLst>
          </a:prstGeom>
          <a:solidFill>
            <a:srgbClr val="0000FF"/>
          </a:solidFill>
          <a:ln w="9525">
            <a:solidFill>
              <a:srgbClr val="B6DCDF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GB" sz="1600" dirty="0">
                <a:solidFill>
                  <a:schemeClr val="lt1"/>
                </a:solidFill>
                <a:latin typeface="+mn-lt"/>
                <a:ea typeface="+mn-ea"/>
              </a:rPr>
              <a:t>map used to </a:t>
            </a:r>
            <a:r>
              <a:rPr lang="en-GB" sz="1600" dirty="0" err="1">
                <a:solidFill>
                  <a:schemeClr val="lt1"/>
                </a:solidFill>
                <a:latin typeface="+mn-lt"/>
                <a:ea typeface="+mn-ea"/>
              </a:rPr>
              <a:t>to</a:t>
            </a:r>
            <a:r>
              <a:rPr lang="en-GB" sz="1600" dirty="0">
                <a:solidFill>
                  <a:schemeClr val="lt1"/>
                </a:solidFill>
                <a:latin typeface="+mn-lt"/>
                <a:ea typeface="+mn-ea"/>
              </a:rPr>
              <a:t> create a new array based on the frameworks array passed in through the `props` object.</a:t>
            </a:r>
            <a:endParaRPr lang="en-US" sz="1600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19ACB15-93EA-D11A-B2C7-609E7B487DBD}"/>
              </a:ext>
            </a:extLst>
          </p:cNvPr>
          <p:cNvSpPr/>
          <p:nvPr/>
        </p:nvSpPr>
        <p:spPr>
          <a:xfrm>
            <a:off x="5067300" y="3962400"/>
            <a:ext cx="1143000" cy="533400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uild="p"/>
      <p:bldP spid="2" grpId="0" animBg="1"/>
      <p:bldP spid="9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7E5E8736-5918-8C16-3DD5-3494B0478C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Component return value.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223D49F7-B11F-A20B-82B0-F86BB4A534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>
                <a:ea typeface="ＭＳ Ｐゴシック" panose="020B0600070205080204" pitchFamily="34" charset="-128"/>
              </a:rPr>
              <a:t>Examples:</a:t>
            </a:r>
            <a:r>
              <a:rPr lang="en-US" altLang="en-US" sz="2000" b="0">
                <a:ea typeface="ＭＳ Ｐゴシック" panose="020B0600070205080204" pitchFamily="34" charset="-128"/>
              </a:rPr>
              <a:t>;</a:t>
            </a:r>
          </a:p>
          <a:p>
            <a:pPr marL="857250" lvl="1" indent="-457200">
              <a:buFontTx/>
              <a:buAutoNum type="arabicPeriod"/>
            </a:pPr>
            <a:r>
              <a:rPr lang="en-US" altLang="en-US" sz="2000" b="0">
                <a:ea typeface="ＭＳ Ｐゴシック" panose="020B0600070205080204" pitchFamily="34" charset="-128"/>
              </a:rPr>
              <a:t>return &lt;MyComponent prop1={…..} prop2={……} /&gt; ;</a:t>
            </a:r>
          </a:p>
          <a:p>
            <a:pPr marL="857250" lvl="1" indent="-457200">
              <a:buFontTx/>
              <a:buAutoNum type="arabicPeriod"/>
            </a:pPr>
            <a:r>
              <a:rPr lang="en-US" altLang="en-US" sz="2000" b="0">
                <a:ea typeface="ＭＳ Ｐゴシック" panose="020B0600070205080204" pitchFamily="34" charset="-128"/>
              </a:rPr>
              <a:t>return (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&lt;div&gt;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   &lt;h1&gt;{this.props.type}&lt;/h1&gt;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   &lt;MyComponent prop1={…..} prop2={……} /&gt;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   &lt;p&gt;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        . . . . . . 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   &lt;/p&gt;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       &lt;/div&gt;</a:t>
            </a:r>
          </a:p>
          <a:p>
            <a:pPr>
              <a:buFontTx/>
              <a:buNone/>
            </a:pPr>
            <a:r>
              <a:rPr lang="en-US" altLang="en-US" sz="2000" b="0">
                <a:ea typeface="ＭＳ Ｐゴシック" panose="020B0600070205080204" pitchFamily="34" charset="-128"/>
              </a:rPr>
              <a:t>            ) ;</a:t>
            </a:r>
          </a:p>
          <a:p>
            <a:pPr marL="857250" lvl="1" indent="-457200"/>
            <a:r>
              <a:rPr lang="en-US" altLang="en-US" sz="2000">
                <a:ea typeface="ＭＳ Ｐゴシック" panose="020B0600070205080204" pitchFamily="34" charset="-128"/>
              </a:rPr>
              <a:t>Must enclose in ( ) when multiline.</a:t>
            </a: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0EF841C2-3EFF-F130-E54F-26922852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E3BFA8-A51D-4B5F-A526-48182A006606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33C4D864-99D4-809E-B3A1-2C9B1EA47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Component return value.</a:t>
            </a:r>
          </a:p>
        </p:txBody>
      </p:sp>
      <p:pic>
        <p:nvPicPr>
          <p:cNvPr id="28675" name="Content Placeholder 2">
            <a:extLst>
              <a:ext uri="{FF2B5EF4-FFF2-40B4-BE49-F238E27FC236}">
                <a16:creationId xmlns:a16="http://schemas.microsoft.com/office/drawing/2014/main" id="{C5AFD1E0-80B3-E6AC-7B20-384785BA5069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0400" y="1562100"/>
            <a:ext cx="8280400" cy="4572000"/>
          </a:xfrm>
        </p:spPr>
      </p:pic>
      <p:sp>
        <p:nvSpPr>
          <p:cNvPr id="47107" name="Slide Number Placeholder 3">
            <a:extLst>
              <a:ext uri="{FF2B5EF4-FFF2-40B4-BE49-F238E27FC236}">
                <a16:creationId xmlns:a16="http://schemas.microsoft.com/office/drawing/2014/main" id="{CBF75B21-4A9E-0EC4-0254-3E104BD2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D99F5D-923F-4D32-AB4C-F1EB5E96AEB7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6413621B-BC7D-254A-C961-081F56C3F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Component return value.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0E7C97DA-C130-5AD5-84E9-F09DFEAAB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3886200" cy="4525963"/>
          </a:xfrm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Old solution:</a:t>
            </a:r>
          </a:p>
          <a:p>
            <a:pPr marL="0" indent="0">
              <a:buNone/>
              <a:defRPr/>
            </a:pPr>
            <a:r>
              <a:rPr lang="en-US" sz="2000" b="0" dirty="0">
                <a:ea typeface="ＭＳ Ｐゴシック" charset="0"/>
                <a:cs typeface="ＭＳ Ｐゴシック" charset="0"/>
              </a:rPr>
              <a:t>     return (</a:t>
            </a:r>
            <a:r>
              <a:rPr lang="en-IE" sz="2000" b="0" dirty="0">
                <a:ea typeface="ＭＳ Ｐゴシック" charset="0"/>
                <a:cs typeface="ＭＳ Ｐゴシック" charset="0"/>
              </a:rPr>
              <a:t>   </a:t>
            </a:r>
          </a:p>
          <a:p>
            <a:pPr marL="400050" lvl="1" indent="0">
              <a:buNone/>
              <a:defRPr/>
            </a:pPr>
            <a:r>
              <a:rPr lang="en-IE" sz="2000" b="0" dirty="0">
                <a:ea typeface="ＭＳ Ｐゴシック" charset="0"/>
                <a:cs typeface="ＭＳ Ｐゴシック" charset="0"/>
              </a:rPr>
              <a:t>    &lt;div&gt;</a:t>
            </a:r>
            <a:endParaRPr lang="en-US" sz="2000" b="0" dirty="0">
              <a:ea typeface="ＭＳ Ｐゴシック" charset="0"/>
              <a:cs typeface="ＭＳ Ｐゴシック" charset="0"/>
            </a:endParaRPr>
          </a:p>
          <a:p>
            <a:pPr>
              <a:buFontTx/>
              <a:buNone/>
              <a:defRPr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              &lt;h1&gt; ……&lt;/h1&gt;</a:t>
            </a:r>
          </a:p>
          <a:p>
            <a:pPr>
              <a:buFontTx/>
              <a:buNone/>
              <a:defRPr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              &lt;</a:t>
            </a:r>
            <a:r>
              <a:rPr lang="en-US" altLang="en-US" sz="2000" b="0" dirty="0" err="1">
                <a:ea typeface="ＭＳ Ｐゴシック" panose="020B0600070205080204" pitchFamily="34" charset="-128"/>
              </a:rPr>
              <a:t>MyComponent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 …… /&gt;</a:t>
            </a:r>
          </a:p>
          <a:p>
            <a:pPr>
              <a:buFontTx/>
              <a:buNone/>
              <a:defRPr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              &lt;p&gt; …….. &lt;/p&gt;</a:t>
            </a:r>
          </a:p>
          <a:p>
            <a:pPr marL="400050" lvl="1" indent="0">
              <a:buNone/>
              <a:defRPr/>
            </a:pPr>
            <a:r>
              <a:rPr lang="en-IE" sz="2000" b="0" dirty="0">
                <a:ea typeface="ＭＳ Ｐゴシック" charset="0"/>
                <a:cs typeface="ＭＳ Ｐゴシック" charset="0"/>
              </a:rPr>
              <a:t>     &lt;/div&gt;</a:t>
            </a:r>
            <a:endParaRPr lang="en-US" sz="2000" b="0" dirty="0">
              <a:ea typeface="ＭＳ Ｐゴシック" charset="0"/>
              <a:cs typeface="ＭＳ Ｐゴシック" charset="0"/>
            </a:endParaRPr>
          </a:p>
          <a:p>
            <a:pPr marL="400050" lvl="1" indent="0">
              <a:buNone/>
              <a:defRPr/>
            </a:pPr>
            <a:r>
              <a:rPr lang="en-US" sz="2000" b="0" dirty="0">
                <a:ea typeface="ＭＳ Ｐゴシック" charset="0"/>
                <a:cs typeface="ＭＳ Ｐゴシック" charset="0"/>
              </a:rPr>
              <a:t>    ) ;</a:t>
            </a:r>
          </a:p>
          <a:p>
            <a:pPr>
              <a:defRPr/>
            </a:pPr>
            <a:r>
              <a:rPr lang="en-US" sz="2000" dirty="0">
                <a:ea typeface="ＭＳ Ｐゴシック" charset="0"/>
                <a:cs typeface="ＭＳ Ｐゴシック" charset="0"/>
              </a:rPr>
              <a:t>Adds unnecessary depth to DOM </a:t>
            </a:r>
            <a:r>
              <a:rPr lang="en-US" sz="2000" dirty="0">
                <a:ea typeface="ＭＳ Ｐゴシック" charset="0"/>
                <a:cs typeface="ＭＳ Ｐゴシック" charset="0"/>
                <a:sym typeface="Wingdings"/>
              </a:rPr>
              <a:t> affects performance</a:t>
            </a:r>
            <a:r>
              <a:rPr lang="en-US" sz="2000" dirty="0"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21FA8544-982C-9075-6078-DCCE71AD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0EAD1F-662C-4798-8C3D-A53FF76215A5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49F3CA-49E5-570A-C059-E47FCB4D7DCB}"/>
              </a:ext>
            </a:extLst>
          </p:cNvPr>
          <p:cNvSpPr txBox="1">
            <a:spLocks/>
          </p:cNvSpPr>
          <p:nvPr/>
        </p:nvSpPr>
        <p:spPr bwMode="auto">
          <a:xfrm>
            <a:off x="6096000" y="1600201"/>
            <a:ext cx="41910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  <a:cs typeface="ＭＳ Ｐゴシック" pitchFamily="-106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9pPr>
          </a:lstStyle>
          <a:p>
            <a:pPr>
              <a:defRPr/>
            </a:pPr>
            <a:r>
              <a:rPr lang="en-US" sz="2000" kern="0" dirty="0">
                <a:ea typeface="ＭＳ Ｐゴシック" charset="0"/>
                <a:cs typeface="ＭＳ Ｐゴシック" charset="0"/>
              </a:rPr>
              <a:t>Alternative solution:</a:t>
            </a:r>
          </a:p>
          <a:p>
            <a:pPr marL="0" indent="0">
              <a:buNone/>
              <a:defRPr/>
            </a:pPr>
            <a:r>
              <a:rPr lang="en-US" sz="2000" b="0" kern="0" dirty="0">
                <a:ea typeface="ＭＳ Ｐゴシック" charset="0"/>
                <a:cs typeface="ＭＳ Ｐゴシック" charset="0"/>
              </a:rPr>
              <a:t>     return (</a:t>
            </a:r>
            <a:r>
              <a:rPr lang="en-IE" sz="2000" b="0" kern="0" dirty="0">
                <a:ea typeface="ＭＳ Ｐゴシック" charset="0"/>
                <a:cs typeface="ＭＳ Ｐゴシック" charset="0"/>
              </a:rPr>
              <a:t>   </a:t>
            </a:r>
          </a:p>
          <a:p>
            <a:pPr marL="400050" lvl="1" indent="0">
              <a:buNone/>
              <a:defRPr/>
            </a:pPr>
            <a:r>
              <a:rPr lang="en-IE" sz="2000" b="0" kern="0" dirty="0">
                <a:ea typeface="ＭＳ Ｐゴシック" charset="0"/>
                <a:cs typeface="ＭＳ Ｐゴシック" charset="0"/>
              </a:rPr>
              <a:t>    &lt;&gt;</a:t>
            </a:r>
            <a:endParaRPr lang="en-US" sz="2000" b="0" kern="0" dirty="0">
              <a:ea typeface="ＭＳ Ｐゴシック" charset="0"/>
              <a:cs typeface="ＭＳ Ｐゴシック" charset="0"/>
            </a:endParaRPr>
          </a:p>
          <a:p>
            <a:pPr>
              <a:buFontTx/>
              <a:buNone/>
              <a:defRPr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               &lt;h1&gt; ……&lt;/h1&gt;</a:t>
            </a:r>
          </a:p>
          <a:p>
            <a:pPr>
              <a:buFontTx/>
              <a:buNone/>
              <a:defRPr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              &lt;</a:t>
            </a:r>
            <a:r>
              <a:rPr lang="en-US" altLang="en-US" sz="2000" b="0" dirty="0" err="1">
                <a:ea typeface="ＭＳ Ｐゴシック" panose="020B0600070205080204" pitchFamily="34" charset="-128"/>
              </a:rPr>
              <a:t>MyComponent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 …… /&gt;</a:t>
            </a:r>
          </a:p>
          <a:p>
            <a:pPr>
              <a:buFontTx/>
              <a:buNone/>
              <a:defRPr/>
            </a:pPr>
            <a:r>
              <a:rPr lang="en-US" altLang="en-US" sz="2000" b="0" dirty="0">
                <a:ea typeface="ＭＳ Ｐゴシック" panose="020B0600070205080204" pitchFamily="34" charset="-128"/>
              </a:rPr>
              <a:t>              &lt;p&gt; …….. &lt;/p&gt;</a:t>
            </a:r>
            <a:endParaRPr lang="en-IE" sz="2000" b="0" kern="0" dirty="0">
              <a:ea typeface="ＭＳ Ｐゴシック" charset="0"/>
              <a:cs typeface="ＭＳ Ｐゴシック" charset="0"/>
            </a:endParaRPr>
          </a:p>
          <a:p>
            <a:pPr marL="400050" lvl="1" indent="0">
              <a:buNone/>
              <a:defRPr/>
            </a:pPr>
            <a:r>
              <a:rPr lang="en-IE" sz="2000" b="0" kern="0" dirty="0">
                <a:ea typeface="ＭＳ Ｐゴシック" charset="0"/>
                <a:cs typeface="ＭＳ Ｐゴシック" charset="0"/>
              </a:rPr>
              <a:t>     &lt;/&gt;</a:t>
            </a:r>
            <a:endParaRPr lang="en-US" sz="2000" b="0" kern="0" dirty="0">
              <a:ea typeface="ＭＳ Ｐゴシック" charset="0"/>
              <a:cs typeface="ＭＳ Ｐゴシック" charset="0"/>
            </a:endParaRPr>
          </a:p>
          <a:p>
            <a:pPr marL="400050" lvl="1" indent="0">
              <a:buNone/>
              <a:defRPr/>
            </a:pPr>
            <a:r>
              <a:rPr lang="en-US" sz="2000" b="0" kern="0" dirty="0">
                <a:ea typeface="ＭＳ Ｐゴシック" charset="0"/>
                <a:cs typeface="ＭＳ Ｐゴシック" charset="0"/>
              </a:rPr>
              <a:t>    ) ;</a:t>
            </a:r>
          </a:p>
          <a:p>
            <a:pPr>
              <a:defRPr/>
            </a:pPr>
            <a:r>
              <a:rPr lang="en-IE" sz="2000" kern="0" dirty="0">
                <a:ea typeface="ＭＳ Ｐゴシック" charset="0"/>
                <a:cs typeface="ＭＳ Ｐゴシック" charset="0"/>
              </a:rPr>
              <a:t>&lt;&gt; &lt;/&gt; </a:t>
            </a:r>
            <a:r>
              <a:rPr lang="mr-IN" sz="2000" kern="0" dirty="0">
                <a:ea typeface="ＭＳ Ｐゴシック" charset="0"/>
                <a:cs typeface="ＭＳ Ｐゴシック" charset="0"/>
              </a:rPr>
              <a:t>–</a:t>
            </a:r>
            <a:r>
              <a:rPr lang="en-US" sz="2000" kern="0" dirty="0">
                <a:ea typeface="ＭＳ Ｐゴシック" charset="0"/>
                <a:cs typeface="ＭＳ Ｐゴシック" charset="0"/>
              </a:rPr>
              <a:t> special React element, termed </a:t>
            </a:r>
            <a:r>
              <a:rPr lang="en-US" sz="2000" b="0" kern="0" dirty="0">
                <a:ea typeface="ＭＳ Ｐゴシック" charset="0"/>
                <a:cs typeface="ＭＳ Ｐゴシック" charset="0"/>
              </a:rPr>
              <a:t>Fragment</a:t>
            </a:r>
            <a:r>
              <a:rPr lang="en-US" sz="2000" kern="0" dirty="0">
                <a:ea typeface="ＭＳ Ｐゴシック" charset="0"/>
                <a:cs typeface="ＭＳ Ｐゴシック" charset="0"/>
              </a:rPr>
              <a:t>.</a:t>
            </a:r>
          </a:p>
          <a:p>
            <a:pPr lvl="1" indent="-342900">
              <a:defRPr/>
            </a:pPr>
            <a:r>
              <a:rPr lang="en-US" sz="2000" kern="0" dirty="0">
                <a:ea typeface="ＭＳ Ｐゴシック" charset="0"/>
                <a:cs typeface="ＭＳ Ｐゴシック" charset="0"/>
              </a:rPr>
              <a:t>No DOM presence.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2349C4F1-9EA1-81F8-7F71-9196F1ABD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19400" y="274638"/>
            <a:ext cx="7391400" cy="11430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Component </a:t>
            </a:r>
            <a:r>
              <a:rPr lang="en-US" altLang="en-US" b="1" i="1">
                <a:ea typeface="ＭＳ Ｐゴシック" panose="020B0600070205080204" pitchFamily="34" charset="-128"/>
              </a:rPr>
              <a:t>Hierarchy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E0F654FB-3677-A087-2CE1-E4FB6DCCBB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57400" y="1219201"/>
            <a:ext cx="8229600" cy="4525963"/>
          </a:xfrm>
        </p:spPr>
        <p:txBody>
          <a:bodyPr/>
          <a:lstStyle/>
          <a:p>
            <a:pPr marL="444500" indent="0">
              <a:buNone/>
              <a:defRPr/>
            </a:pPr>
            <a:r>
              <a:rPr lang="en-US" altLang="en-US" sz="2400" b="0" i="1" u="sng" dirty="0">
                <a:ea typeface="ＭＳ Ｐゴシック" panose="020B0600070205080204" pitchFamily="34" charset="-128"/>
              </a:rPr>
              <a:t>All</a:t>
            </a:r>
            <a:r>
              <a:rPr lang="en-US" altLang="en-US" sz="2400" b="0" i="1" dirty="0">
                <a:ea typeface="ＭＳ Ｐゴシック" panose="020B0600070205080204" pitchFamily="34" charset="-128"/>
              </a:rPr>
              <a:t> React application are designed as </a:t>
            </a:r>
            <a:r>
              <a:rPr lang="en-US" altLang="en-US" sz="2400" b="0" i="1" u="sng" dirty="0">
                <a:ea typeface="ＭＳ Ｐゴシック" panose="020B0600070205080204" pitchFamily="34" charset="-128"/>
              </a:rPr>
              <a:t>a hierarchy of components</a:t>
            </a:r>
            <a:r>
              <a:rPr lang="en-US" altLang="en-US" sz="2400" b="0" i="1" dirty="0">
                <a:ea typeface="ＭＳ Ｐゴシック" panose="020B0600070205080204" pitchFamily="34" charset="-128"/>
              </a:rPr>
              <a:t>. </a:t>
            </a:r>
          </a:p>
          <a:p>
            <a:pPr marL="787400">
              <a:defRPr/>
            </a:pPr>
            <a:r>
              <a:rPr lang="en-US" altLang="en-US" sz="2000" dirty="0">
                <a:ea typeface="ＭＳ Ｐゴシック" panose="020B0600070205080204" pitchFamily="34" charset="-128"/>
              </a:rPr>
              <a:t>Components have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children</a:t>
            </a:r>
            <a:r>
              <a:rPr lang="en-US" altLang="en-US" sz="2000" dirty="0">
                <a:ea typeface="ＭＳ Ｐゴシック" panose="020B0600070205080204" pitchFamily="34" charset="-128"/>
              </a:rPr>
              <a:t> – nesting.</a:t>
            </a:r>
          </a:p>
          <a:p>
            <a:pPr marL="787400">
              <a:defRPr/>
            </a:pPr>
            <a:r>
              <a:rPr lang="en-US" altLang="en-US" sz="2000" dirty="0">
                <a:ea typeface="ＭＳ Ｐゴシック" panose="020B0600070205080204" pitchFamily="34" charset="-128"/>
              </a:rPr>
              <a:t>Ref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. </a:t>
            </a:r>
            <a:r>
              <a:rPr lang="en-US" sz="2000" b="0" dirty="0" err="1">
                <a:ea typeface="ＭＳ Ｐゴシック" charset="0"/>
                <a:cs typeface="ＭＳ Ｐゴシック" charset="0"/>
              </a:rPr>
              <a:t>src</a:t>
            </a:r>
            <a:r>
              <a:rPr lang="en-US" sz="2000" b="0" dirty="0">
                <a:ea typeface="ＭＳ Ｐゴシック" charset="0"/>
                <a:cs typeface="ＭＳ Ｐゴシック" charset="0"/>
              </a:rPr>
              <a:t>/components/samples/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05_hierarchy.ts.</a:t>
            </a:r>
          </a:p>
          <a:p>
            <a:pPr marL="444500" indent="0">
              <a:defRPr/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49155" name="Slide Number Placeholder 3">
            <a:extLst>
              <a:ext uri="{FF2B5EF4-FFF2-40B4-BE49-F238E27FC236}">
                <a16:creationId xmlns:a16="http://schemas.microsoft.com/office/drawing/2014/main" id="{BB4C2DDE-EC4C-2EA3-281E-32138D8A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191F9D-5079-4617-8D1B-7F4F46ADD811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b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C52298-9174-FFCD-705A-DB825C3291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2"/>
          <a:stretch>
            <a:fillRect/>
          </a:stretch>
        </p:blipFill>
        <p:spPr bwMode="auto">
          <a:xfrm>
            <a:off x="3962400" y="2819399"/>
            <a:ext cx="6051550" cy="376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9A947975-EB95-B728-396A-704AE2979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Summary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51202" name="Content Placeholder 2">
            <a:extLst>
              <a:ext uri="{FF2B5EF4-FFF2-40B4-BE49-F238E27FC236}">
                <a16:creationId xmlns:a16="http://schemas.microsoft.com/office/drawing/2014/main" id="{C5D3C933-471C-D2B7-C7BE-16D54A664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TSX.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UI </a:t>
            </a:r>
            <a:r>
              <a:rPr lang="en-US" altLang="en-US" sz="2000" b="0" dirty="0">
                <a:ea typeface="ＭＳ Ｐゴシック" panose="020B0600070205080204" pitchFamily="34" charset="-128"/>
              </a:rPr>
              <a:t>description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2000" b="0" dirty="0" err="1">
                <a:ea typeface="ＭＳ Ｐゴシック" panose="020B0600070205080204" pitchFamily="34" charset="-128"/>
              </a:rPr>
              <a:t>behaviour</a:t>
            </a:r>
            <a:r>
              <a:rPr lang="en-US" altLang="en-US" sz="2000" dirty="0">
                <a:ea typeface="ＭＳ Ｐゴシック" panose="020B0600070205080204" pitchFamily="34" charset="-128"/>
              </a:rPr>
              <a:t> tightly coupled.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Can embed variables/expressions with braces.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All about components.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A function that takes a props argument and returns a single TSX element 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Components can be nested.</a:t>
            </a:r>
          </a:p>
          <a:p>
            <a:r>
              <a:rPr lang="en-US" altLang="en-US" sz="2000" dirty="0">
                <a:ea typeface="ＭＳ Ｐゴシック" panose="020B0600070205080204" pitchFamily="34" charset="-128"/>
              </a:rPr>
              <a:t>Storybook tool.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Develop components in isolation.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Story – the state (data values) of a component can affect its rendering (and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behaviour</a:t>
            </a:r>
            <a:r>
              <a:rPr lang="en-US" altLang="en-US" sz="2000" dirty="0">
                <a:ea typeface="ＭＳ Ｐゴシック" panose="020B0600070205080204" pitchFamily="34" charset="-128"/>
              </a:rPr>
              <a:t>).</a:t>
            </a:r>
          </a:p>
        </p:txBody>
      </p:sp>
      <p:sp>
        <p:nvSpPr>
          <p:cNvPr id="51203" name="Slide Number Placeholder 3">
            <a:extLst>
              <a:ext uri="{FF2B5EF4-FFF2-40B4-BE49-F238E27FC236}">
                <a16:creationId xmlns:a16="http://schemas.microsoft.com/office/drawing/2014/main" id="{17792DFF-3B09-F41A-7F60-5AF67EA37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349678-8631-424A-BE49-108F7DB7C1B4}" type="slidenum">
              <a:rPr lang="en-US" altLang="en-US" b="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Widescreen</PresentationFormat>
  <Paragraphs>114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ＭＳ Ｐゴシック</vt:lpstr>
      <vt:lpstr>Arial</vt:lpstr>
      <vt:lpstr>Courier New</vt:lpstr>
      <vt:lpstr>Segoe WPC</vt:lpstr>
      <vt:lpstr>Default Design</vt:lpstr>
      <vt:lpstr>PowerPoint Presentation</vt:lpstr>
      <vt:lpstr>Demo Samples (See lab exercise)</vt:lpstr>
      <vt:lpstr>TSX - embedded variables.</vt:lpstr>
      <vt:lpstr>Reusability.</vt:lpstr>
      <vt:lpstr>Aside.</vt:lpstr>
      <vt:lpstr>Component collection - Iteration</vt:lpstr>
      <vt:lpstr>Component return value.</vt:lpstr>
      <vt:lpstr>Component return value.</vt:lpstr>
      <vt:lpstr>Component return value.</vt:lpstr>
      <vt:lpstr>Component Hierarchy.</vt:lpstr>
      <vt:lpstr>Summary.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Frank Walsh</cp:lastModifiedBy>
  <cp:revision>151</cp:revision>
  <cp:lastPrinted>2020-10-14T07:09:56Z</cp:lastPrinted>
  <dcterms:created xsi:type="dcterms:W3CDTF">2019-05-23T14:49:22Z</dcterms:created>
  <dcterms:modified xsi:type="dcterms:W3CDTF">2026-02-20T11:29:02Z</dcterms:modified>
</cp:coreProperties>
</file>